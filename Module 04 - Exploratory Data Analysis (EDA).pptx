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00FF"/>
    <a:srgbClr val="02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9289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71E61-1F46-F0F0-1D8D-7D6328E4F8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3B5475-8B75-A73F-4F70-55B01F1EF3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9406C-45C0-4EA1-5BC2-149EDC9EA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1/13/2026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81521B-D14E-3C95-EC45-761C6D230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ITAI 1371 – Introduction to Machine Learning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88C7E3-BBB4-8160-7963-C3077CC99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2694D9D-A355-4F26-BB68-DA10A13C30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02724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B6BAC-F915-FB21-8780-3B47ACDBA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8FD88-BE74-DC65-3FC3-DC03077724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F341F-509E-A389-8C35-C446524A6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1/13/2026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A6EAE-D3F2-F42C-1C50-6F49BDF8D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ITAI 1371 – Introduction to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5CA63-85B9-9B02-3E96-C3DE29560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94D9D-A355-4F26-BB68-DA10A13C3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36865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8AE1D-4A2C-63DA-7E6E-AC7D5D2FD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6A7F0F-B02B-B606-5CAD-643E653ACE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482FD-D260-CABD-125E-E41A8C149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1/13/2026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516FC-0D3C-AB97-4C1B-295D037C8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ITAI 1371 – Introduction to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80913C-661C-DEE6-8BB9-EF466FFEE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94D9D-A355-4F26-BB68-DA10A13C3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24433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B251A-6325-9BCC-C2B4-4825926DB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7FA55-0C2A-6B93-98AE-2EDF7EE4C9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5CEA8F-E748-734E-5FAA-BA7313F477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8BEB4A-8F82-1DAB-C558-38D3739B3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1/13/2026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AA139F-2E87-3BCF-4AE8-A8E5CAA6E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ITAI 1371 – Introduction to Machine Learning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6F5D80-EEB4-0F79-8FFD-D99C789DE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94D9D-A355-4F26-BB68-DA10A13C3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58754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6B73F-9F34-76BD-9D17-6C2103DB1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E2680A-A0CE-6786-9E74-8826F5B70D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837A68-D72D-AC98-7BB1-DD83505776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F91E6D-ED15-1436-99CA-BD8D0C5368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EB7047-0512-4CEB-507D-8F1BF01FE9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B57C95-19C5-6C15-3671-EC1408796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1/13/2026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D9DE62-B9B2-A49A-439F-62B604BEE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ITAI 1371 – Introduction to Machine Learning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B27BCC-D715-9A7C-2769-3CFDE7F0F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94D9D-A355-4F26-BB68-DA10A13C3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54793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6C14F-B8D4-8B31-F5C6-E922E1AD1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B0DC53-C8D4-8BDE-6C96-F84585287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1/13/2026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ECC02C-BCE8-3389-A355-5240D3F56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ITAI 1371 – Introduction to Machine Learning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D82875-5C93-4C53-14A9-94D1AA59D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94D9D-A355-4F26-BB68-DA10A13C3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98203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557F62-B87F-A9D9-78EC-7B8AE5C68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1/13/2026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15A32D-5FD2-30D5-FD7B-60FCF1129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ITAI 1371 – Introduction to Machine Learning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5334D7-BCE9-A7EF-CEA2-97701EC78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94D9D-A355-4F26-BB68-DA10A13C3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79000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52804-106F-92CE-8536-E6917DE0B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17034-FB71-0CAE-20B2-475220C3B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4BCB7E-7962-802A-3D6C-8455546FA6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4ECA44-E438-860A-911D-D0C0DCAC4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1/13/2026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F1A9B4-30B4-4FE0-322F-11F521717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ITAI 1371 – Introduction to Machine Learning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459F96-C4E5-B47D-3F8F-8FC68DF85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94D9D-A355-4F26-BB68-DA10A13C3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13109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26FB8-F202-D79E-C986-D49FBC6D2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5A09ED-8188-9DEF-1275-7A5E048243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34CF1D-DF50-7B0C-2D53-EA2AED6A8A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B4CE10-BB08-1C87-6463-A9009476C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1/13/2026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EAE57F-9B85-D391-F6A3-6F9335655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ITAI 1371 – Introduction to Machine Learning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56DA40-9B1F-1085-B829-9AA9D578E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94D9D-A355-4F26-BB68-DA10A13C3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27721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22D2B-28FF-97B6-040A-F769D961C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9E295B-5187-DC36-9365-DEFC252D3A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DDDF5-5920-7CBD-5A46-A584CE034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1/13/2026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5202B-6E21-7A35-D576-3843F8434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ITAI 1371 – Introduction to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7CBEC4-491E-106E-FC6E-F04458AA4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94D9D-A355-4F26-BB68-DA10A13C3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65541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3C7860-839A-B87F-5FD7-AC5F96BBBA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18DF93-A2AE-41B1-FB84-7DAD0F3B30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364747-554B-F102-C5AE-89378C3C6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1/13/2026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4A06C1-8B20-5E4A-CB46-08E80A56D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ITAI 1371 – Introduction to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3913FE-5EFA-F27A-0F37-F99092D8F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94D9D-A355-4F26-BB68-DA10A13C3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84906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7560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71599A0-9F3B-FEDB-A571-ABDD0A6C9162}"/>
              </a:ext>
            </a:extLst>
          </p:cNvPr>
          <p:cNvSpPr/>
          <p:nvPr/>
        </p:nvSpPr>
        <p:spPr>
          <a:xfrm>
            <a:off x="0" y="4675032"/>
            <a:ext cx="9144000" cy="468469"/>
          </a:xfrm>
          <a:prstGeom prst="rect">
            <a:avLst/>
          </a:prstGeom>
          <a:solidFill>
            <a:srgbClr val="FCB4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D18C5F-6CEF-9FF5-D7C2-E09E54F69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5F1648-2A65-B444-3518-10F2BD11F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4A15C-E4EE-54AB-7A5F-99C6C6642E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1/13/2026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023B15-27AD-1C3C-36C1-F5B0AB4347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ITAI 1371 – Introduction to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717F8-8B4E-E322-8FD2-5B56A97A29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2694D9D-A355-4F26-BB68-DA10A13C30E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05C52C-BC10-4FBF-96AF-ECC318C7635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86710" y="17860"/>
            <a:ext cx="1957290" cy="526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879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1386976"/>
            <a:ext cx="48006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2" dirty="0">
                <a:solidFill>
                  <a:srgbClr val="FF00FF"/>
                </a:solidFill>
              </a:rPr>
              <a:t>ITAI 1371 Module 04</a:t>
            </a:r>
            <a:endParaRPr lang="en-US" sz="1193" dirty="0"/>
          </a:p>
        </p:txBody>
      </p:sp>
      <p:sp>
        <p:nvSpPr>
          <p:cNvPr id="4" name="Text 1"/>
          <p:cNvSpPr/>
          <p:nvPr/>
        </p:nvSpPr>
        <p:spPr>
          <a:xfrm>
            <a:off x="571500" y="1763809"/>
            <a:ext cx="4800600" cy="15276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/>
              <a:t>Working with Data &amp; Exploratory Data Analysis (EDA)</a:t>
            </a:r>
            <a:endParaRPr lang="en-US" sz="3294" dirty="0"/>
          </a:p>
        </p:txBody>
      </p:sp>
      <p:sp>
        <p:nvSpPr>
          <p:cNvPr id="5" name="Text 2"/>
          <p:cNvSpPr/>
          <p:nvPr/>
        </p:nvSpPr>
        <p:spPr>
          <a:xfrm>
            <a:off x="571500" y="3443985"/>
            <a:ext cx="3111044" cy="2721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/>
              <a:t>Introduction to Machine Learning</a:t>
            </a: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4870" y="1076399"/>
            <a:ext cx="4165622" cy="2990702"/>
          </a:xfrm>
          <a:prstGeom prst="rect">
            <a:avLst/>
          </a:prstGeom>
        </p:spPr>
      </p:pic>
      <p:sp>
        <p:nvSpPr>
          <p:cNvPr id="7" name="Text 23">
            <a:extLst>
              <a:ext uri="{FF2B5EF4-FFF2-40B4-BE49-F238E27FC236}">
                <a16:creationId xmlns:a16="http://schemas.microsoft.com/office/drawing/2014/main" id="{3ABACAFA-0863-4A05-7C86-C55925AA60E8}"/>
              </a:ext>
            </a:extLst>
          </p:cNvPr>
          <p:cNvSpPr/>
          <p:nvPr/>
        </p:nvSpPr>
        <p:spPr>
          <a:xfrm>
            <a:off x="571500" y="4838105"/>
            <a:ext cx="421590" cy="112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/>
              <a:t>Module 04</a:t>
            </a:r>
          </a:p>
        </p:txBody>
      </p:sp>
      <p:sp>
        <p:nvSpPr>
          <p:cNvPr id="8" name="Text 24">
            <a:extLst>
              <a:ext uri="{FF2B5EF4-FFF2-40B4-BE49-F238E27FC236}">
                <a16:creationId xmlns:a16="http://schemas.microsoft.com/office/drawing/2014/main" id="{E675F6D2-667C-ABA9-98F3-9E21FAD08A85}"/>
              </a:ext>
            </a:extLst>
          </p:cNvPr>
          <p:cNvSpPr/>
          <p:nvPr/>
        </p:nvSpPr>
        <p:spPr>
          <a:xfrm>
            <a:off x="6144295" y="4838105"/>
            <a:ext cx="2087110" cy="112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/>
              <a:t>Working with Data &amp; EDA (2026 Edition) • Classic 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428625"/>
            <a:ext cx="1250342" cy="4671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dirty="0"/>
              <a:t>Agenda</a:t>
            </a:r>
            <a:endParaRPr lang="en-US" sz="2862" dirty="0"/>
          </a:p>
        </p:txBody>
      </p:sp>
      <p:sp>
        <p:nvSpPr>
          <p:cNvPr id="5" name="Shape 2"/>
          <p:cNvSpPr/>
          <p:nvPr/>
        </p:nvSpPr>
        <p:spPr>
          <a:xfrm>
            <a:off x="530146" y="1044773"/>
            <a:ext cx="571500" cy="571500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30146" y="1044773"/>
            <a:ext cx="42863" cy="5715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884" y="1216223"/>
            <a:ext cx="200025" cy="2286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</p:pic>
      <p:sp>
        <p:nvSpPr>
          <p:cNvPr id="8" name="Text 4"/>
          <p:cNvSpPr/>
          <p:nvPr/>
        </p:nvSpPr>
        <p:spPr>
          <a:xfrm>
            <a:off x="1101646" y="1193899"/>
            <a:ext cx="4358629" cy="235514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 dirty="0"/>
              <a:t>Why data quality matters (garbage in, garbage out)</a:t>
            </a:r>
          </a:p>
        </p:txBody>
      </p:sp>
      <p:sp>
        <p:nvSpPr>
          <p:cNvPr id="10" name="Shape 6"/>
          <p:cNvSpPr/>
          <p:nvPr/>
        </p:nvSpPr>
        <p:spPr>
          <a:xfrm>
            <a:off x="530146" y="1759148"/>
            <a:ext cx="571500" cy="571500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530146" y="1759148"/>
            <a:ext cx="42863" cy="5715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596" y="1930598"/>
            <a:ext cx="228600" cy="2286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</p:pic>
      <p:sp>
        <p:nvSpPr>
          <p:cNvPr id="13" name="Text 8"/>
          <p:cNvSpPr/>
          <p:nvPr/>
        </p:nvSpPr>
        <p:spPr>
          <a:xfrm>
            <a:off x="1101646" y="1908274"/>
            <a:ext cx="4782912" cy="235514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 dirty="0"/>
              <a:t>Understanding your data (types, distributions, patterns)</a:t>
            </a:r>
          </a:p>
        </p:txBody>
      </p:sp>
      <p:sp>
        <p:nvSpPr>
          <p:cNvPr id="15" name="Shape 10"/>
          <p:cNvSpPr/>
          <p:nvPr/>
        </p:nvSpPr>
        <p:spPr>
          <a:xfrm>
            <a:off x="530146" y="2473523"/>
            <a:ext cx="571500" cy="571500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530146" y="2473523"/>
            <a:ext cx="42863" cy="5715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596" y="2644973"/>
            <a:ext cx="228600" cy="2286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</p:pic>
      <p:sp>
        <p:nvSpPr>
          <p:cNvPr id="18" name="Text 12"/>
          <p:cNvSpPr/>
          <p:nvPr/>
        </p:nvSpPr>
        <p:spPr>
          <a:xfrm>
            <a:off x="1101646" y="2622649"/>
            <a:ext cx="3213187" cy="235514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 dirty="0"/>
              <a:t>Visualization techniques for insights</a:t>
            </a:r>
          </a:p>
        </p:txBody>
      </p:sp>
      <p:sp>
        <p:nvSpPr>
          <p:cNvPr id="20" name="Shape 14"/>
          <p:cNvSpPr/>
          <p:nvPr/>
        </p:nvSpPr>
        <p:spPr>
          <a:xfrm>
            <a:off x="530146" y="3187898"/>
            <a:ext cx="571500" cy="571500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530146" y="3187898"/>
            <a:ext cx="42863" cy="5715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021" y="3359348"/>
            <a:ext cx="285750" cy="2286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</p:pic>
      <p:sp>
        <p:nvSpPr>
          <p:cNvPr id="23" name="Text 16"/>
          <p:cNvSpPr/>
          <p:nvPr/>
        </p:nvSpPr>
        <p:spPr>
          <a:xfrm>
            <a:off x="1101646" y="3337024"/>
            <a:ext cx="2682979" cy="235514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 dirty="0"/>
              <a:t>Identifying data quality issues</a:t>
            </a:r>
          </a:p>
        </p:txBody>
      </p:sp>
      <p:sp>
        <p:nvSpPr>
          <p:cNvPr id="25" name="Shape 18"/>
          <p:cNvSpPr/>
          <p:nvPr/>
        </p:nvSpPr>
        <p:spPr>
          <a:xfrm>
            <a:off x="530146" y="3902273"/>
            <a:ext cx="571500" cy="571500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19"/>
          <p:cNvSpPr/>
          <p:nvPr/>
        </p:nvSpPr>
        <p:spPr>
          <a:xfrm>
            <a:off x="530146" y="3902273"/>
            <a:ext cx="42863" cy="5715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171" y="4073723"/>
            <a:ext cx="171450" cy="2286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</p:pic>
      <p:sp>
        <p:nvSpPr>
          <p:cNvPr id="28" name="Text 20"/>
          <p:cNvSpPr/>
          <p:nvPr/>
        </p:nvSpPr>
        <p:spPr>
          <a:xfrm>
            <a:off x="1101646" y="4051399"/>
            <a:ext cx="2753639" cy="235514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 dirty="0"/>
              <a:t>EDA best practices &amp; workflow</a:t>
            </a:r>
          </a:p>
        </p:txBody>
      </p:sp>
      <p:sp>
        <p:nvSpPr>
          <p:cNvPr id="29" name="Shape 21"/>
          <p:cNvSpPr/>
          <p:nvPr/>
        </p:nvSpPr>
        <p:spPr>
          <a:xfrm>
            <a:off x="571500" y="4723805"/>
            <a:ext cx="8001000" cy="25003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3"/>
          <p:cNvSpPr/>
          <p:nvPr/>
        </p:nvSpPr>
        <p:spPr>
          <a:xfrm>
            <a:off x="571500" y="4838105"/>
            <a:ext cx="421590" cy="112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/>
              <a:t>Module 04</a:t>
            </a:r>
          </a:p>
        </p:txBody>
      </p:sp>
      <p:sp>
        <p:nvSpPr>
          <p:cNvPr id="32" name="Text 24"/>
          <p:cNvSpPr/>
          <p:nvPr/>
        </p:nvSpPr>
        <p:spPr>
          <a:xfrm>
            <a:off x="6144295" y="4838105"/>
            <a:ext cx="2087110" cy="112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/>
              <a:t>Working with Data &amp; EDA (2026 Edition) • Classic 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428625"/>
            <a:ext cx="2859757" cy="4671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dirty="0">
                <a:solidFill>
                  <a:schemeClr val="accent5"/>
                </a:solidFill>
              </a:rPr>
              <a:t>Why EDA Matters</a:t>
            </a:r>
            <a:endParaRPr lang="en-US" sz="2862" dirty="0">
              <a:solidFill>
                <a:schemeClr val="accent5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1259086"/>
            <a:ext cx="89768" cy="2643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/>
              <a:t>•</a:t>
            </a:r>
          </a:p>
        </p:txBody>
      </p:sp>
      <p:sp>
        <p:nvSpPr>
          <p:cNvPr id="5" name="Text 2"/>
          <p:cNvSpPr/>
          <p:nvPr/>
        </p:nvSpPr>
        <p:spPr>
          <a:xfrm>
            <a:off x="785813" y="1260872"/>
            <a:ext cx="1787925" cy="2643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/>
              <a:t>ML models learn from</a:t>
            </a:r>
          </a:p>
        </p:txBody>
      </p:sp>
      <p:sp>
        <p:nvSpPr>
          <p:cNvPr id="6" name="Text 3"/>
          <p:cNvSpPr/>
          <p:nvPr/>
        </p:nvSpPr>
        <p:spPr>
          <a:xfrm>
            <a:off x="2834478" y="1260872"/>
            <a:ext cx="1163332" cy="2643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b="1" dirty="0"/>
              <a:t>data patterns</a:t>
            </a:r>
          </a:p>
        </p:txBody>
      </p:sp>
      <p:sp>
        <p:nvSpPr>
          <p:cNvPr id="7" name="Text 4"/>
          <p:cNvSpPr/>
          <p:nvPr/>
        </p:nvSpPr>
        <p:spPr>
          <a:xfrm>
            <a:off x="571500" y="1681990"/>
            <a:ext cx="89768" cy="2643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/>
              <a:t>•</a:t>
            </a:r>
          </a:p>
        </p:txBody>
      </p:sp>
      <p:sp>
        <p:nvSpPr>
          <p:cNvPr id="8" name="Text 5"/>
          <p:cNvSpPr/>
          <p:nvPr/>
        </p:nvSpPr>
        <p:spPr>
          <a:xfrm>
            <a:off x="785813" y="1683776"/>
            <a:ext cx="3877689" cy="5532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/>
              <a:t>Bad data = bad predictions (no matter how good your model)</a:t>
            </a:r>
          </a:p>
        </p:txBody>
      </p:sp>
      <p:sp>
        <p:nvSpPr>
          <p:cNvPr id="9" name="Text 6"/>
          <p:cNvSpPr/>
          <p:nvPr/>
        </p:nvSpPr>
        <p:spPr>
          <a:xfrm>
            <a:off x="571500" y="2384924"/>
            <a:ext cx="89768" cy="2643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/>
              <a:t>•</a:t>
            </a:r>
          </a:p>
        </p:txBody>
      </p:sp>
      <p:sp>
        <p:nvSpPr>
          <p:cNvPr id="10" name="Text 7"/>
          <p:cNvSpPr/>
          <p:nvPr/>
        </p:nvSpPr>
        <p:spPr>
          <a:xfrm>
            <a:off x="785813" y="2386710"/>
            <a:ext cx="1030282" cy="2643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/>
              <a:t>EDA reveals:</a:t>
            </a:r>
          </a:p>
        </p:txBody>
      </p:sp>
      <p:sp>
        <p:nvSpPr>
          <p:cNvPr id="11" name="Text 8"/>
          <p:cNvSpPr/>
          <p:nvPr/>
        </p:nvSpPr>
        <p:spPr>
          <a:xfrm>
            <a:off x="785813" y="2736391"/>
            <a:ext cx="75342" cy="2278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/>
              <a:t>–</a:t>
            </a:r>
          </a:p>
        </p:txBody>
      </p:sp>
      <p:sp>
        <p:nvSpPr>
          <p:cNvPr id="12" name="Text 9"/>
          <p:cNvSpPr/>
          <p:nvPr/>
        </p:nvSpPr>
        <p:spPr>
          <a:xfrm>
            <a:off x="1000125" y="2738177"/>
            <a:ext cx="1881925" cy="2278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/>
              <a:t>Missing values and outliers</a:t>
            </a:r>
          </a:p>
        </p:txBody>
      </p:sp>
      <p:sp>
        <p:nvSpPr>
          <p:cNvPr id="13" name="Text 10"/>
          <p:cNvSpPr/>
          <p:nvPr/>
        </p:nvSpPr>
        <p:spPr>
          <a:xfrm>
            <a:off x="785813" y="3047842"/>
            <a:ext cx="75342" cy="2278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/>
              <a:t>–</a:t>
            </a:r>
          </a:p>
        </p:txBody>
      </p:sp>
      <p:sp>
        <p:nvSpPr>
          <p:cNvPr id="14" name="Text 11"/>
          <p:cNvSpPr/>
          <p:nvPr/>
        </p:nvSpPr>
        <p:spPr>
          <a:xfrm>
            <a:off x="1000125" y="3049628"/>
            <a:ext cx="2657587" cy="2278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/>
              <a:t>Feature relationships and correlations</a:t>
            </a:r>
          </a:p>
        </p:txBody>
      </p:sp>
      <p:sp>
        <p:nvSpPr>
          <p:cNvPr id="15" name="Text 12"/>
          <p:cNvSpPr/>
          <p:nvPr/>
        </p:nvSpPr>
        <p:spPr>
          <a:xfrm>
            <a:off x="785813" y="3359293"/>
            <a:ext cx="75342" cy="2278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/>
              <a:t>–</a:t>
            </a:r>
          </a:p>
        </p:txBody>
      </p:sp>
      <p:sp>
        <p:nvSpPr>
          <p:cNvPr id="16" name="Text 13"/>
          <p:cNvSpPr/>
          <p:nvPr/>
        </p:nvSpPr>
        <p:spPr>
          <a:xfrm>
            <a:off x="1000125" y="3361079"/>
            <a:ext cx="2077556" cy="2278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/>
              <a:t>Data distribution and balance</a:t>
            </a:r>
          </a:p>
        </p:txBody>
      </p:sp>
      <p:sp>
        <p:nvSpPr>
          <p:cNvPr id="17" name="Text 14"/>
          <p:cNvSpPr/>
          <p:nvPr/>
        </p:nvSpPr>
        <p:spPr>
          <a:xfrm>
            <a:off x="571500" y="3742181"/>
            <a:ext cx="89768" cy="2643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/>
              <a:t>•</a:t>
            </a:r>
          </a:p>
        </p:txBody>
      </p:sp>
      <p:sp>
        <p:nvSpPr>
          <p:cNvPr id="18" name="Text 15"/>
          <p:cNvSpPr/>
          <p:nvPr/>
        </p:nvSpPr>
        <p:spPr>
          <a:xfrm>
            <a:off x="785813" y="3743967"/>
            <a:ext cx="3252557" cy="2643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/>
              <a:t>Prevents costly mistakes before training</a:t>
            </a:r>
          </a:p>
        </p:txBody>
      </p:sp>
      <p:sp>
        <p:nvSpPr>
          <p:cNvPr id="19" name="Text 16"/>
          <p:cNvSpPr/>
          <p:nvPr/>
        </p:nvSpPr>
        <p:spPr>
          <a:xfrm>
            <a:off x="571500" y="4165085"/>
            <a:ext cx="89768" cy="2643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/>
              <a:t>•</a:t>
            </a:r>
          </a:p>
        </p:txBody>
      </p:sp>
      <p:sp>
        <p:nvSpPr>
          <p:cNvPr id="20" name="Text 17"/>
          <p:cNvSpPr/>
          <p:nvPr/>
        </p:nvSpPr>
        <p:spPr>
          <a:xfrm>
            <a:off x="785813" y="4166871"/>
            <a:ext cx="3039294" cy="2643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/>
              <a:t>Guides feature engineering decisions</a:t>
            </a:r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3"/>
          <a:srcRect t="24073" b="16222"/>
          <a:stretch>
            <a:fillRect/>
          </a:stretch>
        </p:blipFill>
        <p:spPr>
          <a:xfrm>
            <a:off x="4378977" y="1681990"/>
            <a:ext cx="4666782" cy="1857529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571500" y="4679156"/>
            <a:ext cx="8001000" cy="25003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571500" y="4793456"/>
            <a:ext cx="421590" cy="112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/>
              <a:t>Module 04</a:t>
            </a:r>
          </a:p>
        </p:txBody>
      </p:sp>
      <p:sp>
        <p:nvSpPr>
          <p:cNvPr id="26" name="Text 22"/>
          <p:cNvSpPr/>
          <p:nvPr/>
        </p:nvSpPr>
        <p:spPr>
          <a:xfrm>
            <a:off x="6144295" y="4793456"/>
            <a:ext cx="2095125" cy="112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/>
              <a:t>Working with Data &amp; EDA (2026 Edition) • Classic 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428625"/>
            <a:ext cx="4237763" cy="4671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dirty="0">
                <a:solidFill>
                  <a:schemeClr val="accent5"/>
                </a:solidFill>
              </a:rPr>
              <a:t>The Data Quality Problem</a:t>
            </a:r>
            <a:endParaRPr lang="en-US" sz="2862" dirty="0">
              <a:solidFill>
                <a:schemeClr val="accent5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1259086"/>
            <a:ext cx="89768" cy="2643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/>
              <a:t>•</a:t>
            </a:r>
          </a:p>
        </p:txBody>
      </p:sp>
      <p:sp>
        <p:nvSpPr>
          <p:cNvPr id="5" name="Text 2"/>
          <p:cNvSpPr/>
          <p:nvPr/>
        </p:nvSpPr>
        <p:spPr>
          <a:xfrm>
            <a:off x="785813" y="1260872"/>
            <a:ext cx="2102948" cy="2643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/>
              <a:t>Real-world data is messy:</a:t>
            </a:r>
          </a:p>
        </p:txBody>
      </p:sp>
      <p:sp>
        <p:nvSpPr>
          <p:cNvPr id="6" name="Text 3"/>
          <p:cNvSpPr/>
          <p:nvPr/>
        </p:nvSpPr>
        <p:spPr>
          <a:xfrm>
            <a:off x="785813" y="1610553"/>
            <a:ext cx="75342" cy="2278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/>
              <a:t>–</a:t>
            </a:r>
          </a:p>
        </p:txBody>
      </p:sp>
      <p:sp>
        <p:nvSpPr>
          <p:cNvPr id="7" name="Text 4"/>
          <p:cNvSpPr/>
          <p:nvPr/>
        </p:nvSpPr>
        <p:spPr>
          <a:xfrm>
            <a:off x="1000125" y="1612339"/>
            <a:ext cx="1096454" cy="2278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chemeClr val="accent4"/>
                </a:solidFill>
              </a:rPr>
              <a:t>80% of ML work</a:t>
            </a:r>
          </a:p>
        </p:txBody>
      </p:sp>
      <p:sp>
        <p:nvSpPr>
          <p:cNvPr id="8" name="Text 5"/>
          <p:cNvSpPr/>
          <p:nvPr/>
        </p:nvSpPr>
        <p:spPr>
          <a:xfrm>
            <a:off x="2281396" y="1612339"/>
            <a:ext cx="1309654" cy="2278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/>
              <a:t>is data preparation</a:t>
            </a:r>
          </a:p>
        </p:txBody>
      </p:sp>
      <p:sp>
        <p:nvSpPr>
          <p:cNvPr id="9" name="Text 6"/>
          <p:cNvSpPr/>
          <p:nvPr/>
        </p:nvSpPr>
        <p:spPr>
          <a:xfrm>
            <a:off x="785813" y="1907716"/>
            <a:ext cx="75342" cy="2278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/>
              <a:t>–</a:t>
            </a:r>
          </a:p>
        </p:txBody>
      </p:sp>
      <p:sp>
        <p:nvSpPr>
          <p:cNvPr id="10" name="Text 7"/>
          <p:cNvSpPr/>
          <p:nvPr/>
        </p:nvSpPr>
        <p:spPr>
          <a:xfrm>
            <a:off x="1000125" y="1909502"/>
            <a:ext cx="3155864" cy="2278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/>
              <a:t>Missing values (sensors fail, users skip fields)</a:t>
            </a:r>
          </a:p>
        </p:txBody>
      </p:sp>
      <p:sp>
        <p:nvSpPr>
          <p:cNvPr id="11" name="Text 8"/>
          <p:cNvSpPr/>
          <p:nvPr/>
        </p:nvSpPr>
        <p:spPr>
          <a:xfrm>
            <a:off x="785813" y="2204879"/>
            <a:ext cx="75342" cy="2278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/>
              <a:t>–</a:t>
            </a:r>
          </a:p>
        </p:txBody>
      </p:sp>
      <p:sp>
        <p:nvSpPr>
          <p:cNvPr id="12" name="Text 9"/>
          <p:cNvSpPr/>
          <p:nvPr/>
        </p:nvSpPr>
        <p:spPr>
          <a:xfrm>
            <a:off x="1000125" y="2206665"/>
            <a:ext cx="2043636" cy="2278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/>
              <a:t>Duplicates (data entry errors)</a:t>
            </a:r>
          </a:p>
        </p:txBody>
      </p:sp>
      <p:sp>
        <p:nvSpPr>
          <p:cNvPr id="13" name="Text 10"/>
          <p:cNvSpPr/>
          <p:nvPr/>
        </p:nvSpPr>
        <p:spPr>
          <a:xfrm>
            <a:off x="785813" y="2502043"/>
            <a:ext cx="75342" cy="2278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/>
              <a:t>–</a:t>
            </a:r>
          </a:p>
        </p:txBody>
      </p:sp>
      <p:sp>
        <p:nvSpPr>
          <p:cNvPr id="14" name="Text 11"/>
          <p:cNvSpPr/>
          <p:nvPr/>
        </p:nvSpPr>
        <p:spPr>
          <a:xfrm>
            <a:off x="1000125" y="2503829"/>
            <a:ext cx="2921347" cy="473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/>
              <a:t>Outliers (typos: age = 999, or genuine extremes)</a:t>
            </a:r>
          </a:p>
        </p:txBody>
      </p:sp>
      <p:sp>
        <p:nvSpPr>
          <p:cNvPr id="15" name="Text 12"/>
          <p:cNvSpPr/>
          <p:nvPr/>
        </p:nvSpPr>
        <p:spPr>
          <a:xfrm>
            <a:off x="785813" y="3039219"/>
            <a:ext cx="75342" cy="2278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/>
              <a:t>–</a:t>
            </a:r>
          </a:p>
        </p:txBody>
      </p:sp>
      <p:sp>
        <p:nvSpPr>
          <p:cNvPr id="16" name="Text 13"/>
          <p:cNvSpPr/>
          <p:nvPr/>
        </p:nvSpPr>
        <p:spPr>
          <a:xfrm>
            <a:off x="1000125" y="3041005"/>
            <a:ext cx="2778005" cy="2278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/>
              <a:t>Inconsistent formats (dates, categories)</a:t>
            </a:r>
          </a:p>
        </p:txBody>
      </p:sp>
      <p:sp>
        <p:nvSpPr>
          <p:cNvPr id="17" name="Text 14"/>
          <p:cNvSpPr/>
          <p:nvPr/>
        </p:nvSpPr>
        <p:spPr>
          <a:xfrm>
            <a:off x="571500" y="3422107"/>
            <a:ext cx="89768" cy="2643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/>
              <a:t>•</a:t>
            </a:r>
          </a:p>
        </p:txBody>
      </p:sp>
      <p:sp>
        <p:nvSpPr>
          <p:cNvPr id="18" name="Text 15"/>
          <p:cNvSpPr/>
          <p:nvPr/>
        </p:nvSpPr>
        <p:spPr>
          <a:xfrm>
            <a:off x="785813" y="3423893"/>
            <a:ext cx="1863844" cy="2643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/>
              <a:t>You can't skip this step</a:t>
            </a:r>
          </a:p>
        </p:txBody>
      </p:sp>
      <p:sp>
        <p:nvSpPr>
          <p:cNvPr id="19" name="Text 16"/>
          <p:cNvSpPr/>
          <p:nvPr/>
        </p:nvSpPr>
        <p:spPr>
          <a:xfrm>
            <a:off x="571500" y="3845012"/>
            <a:ext cx="89768" cy="2643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/>
              <a:t>•</a:t>
            </a:r>
          </a:p>
        </p:txBody>
      </p:sp>
      <p:sp>
        <p:nvSpPr>
          <p:cNvPr id="20" name="Text 17"/>
          <p:cNvSpPr/>
          <p:nvPr/>
        </p:nvSpPr>
        <p:spPr>
          <a:xfrm>
            <a:off x="785813" y="3846798"/>
            <a:ext cx="920893" cy="2643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/>
              <a:t>EDA is your</a:t>
            </a:r>
          </a:p>
        </p:txBody>
      </p:sp>
      <p:sp>
        <p:nvSpPr>
          <p:cNvPr id="21" name="Text 18"/>
          <p:cNvSpPr/>
          <p:nvPr/>
        </p:nvSpPr>
        <p:spPr>
          <a:xfrm>
            <a:off x="1862565" y="3846798"/>
            <a:ext cx="1197572" cy="2643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chemeClr val="accent4"/>
                </a:solidFill>
              </a:rPr>
              <a:t>detective work</a:t>
            </a:r>
          </a:p>
        </p:txBody>
      </p:sp>
      <p:sp>
        <p:nvSpPr>
          <p:cNvPr id="22" name="Text 19"/>
          <p:cNvSpPr/>
          <p:nvPr/>
        </p:nvSpPr>
        <p:spPr>
          <a:xfrm>
            <a:off x="3237347" y="3846798"/>
            <a:ext cx="506549" cy="2643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/>
              <a:t>phase</a:t>
            </a:r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3"/>
          <a:srcRect l="22308" r="20746"/>
          <a:stretch>
            <a:fillRect/>
          </a:stretch>
        </p:blipFill>
        <p:spPr>
          <a:xfrm>
            <a:off x="5110951" y="1030252"/>
            <a:ext cx="3710844" cy="3421123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71500" y="4793456"/>
            <a:ext cx="4971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Module 04</a:t>
            </a:r>
            <a:endParaRPr lang="en-US" sz="727" dirty="0"/>
          </a:p>
        </p:txBody>
      </p:sp>
      <p:sp>
        <p:nvSpPr>
          <p:cNvPr id="28" name="Text 24"/>
          <p:cNvSpPr/>
          <p:nvPr/>
        </p:nvSpPr>
        <p:spPr>
          <a:xfrm>
            <a:off x="6144295" y="4793456"/>
            <a:ext cx="2095125" cy="112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/>
              <a:t>Working with Data &amp; EDA (2026 Edition) • Classic 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428625"/>
            <a:ext cx="2234586" cy="4671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dirty="0"/>
              <a:t>Types of Data</a:t>
            </a:r>
            <a:endParaRPr lang="en-US" sz="2862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B446832-AAD4-832A-B348-CC0AFAEEF336}"/>
              </a:ext>
            </a:extLst>
          </p:cNvPr>
          <p:cNvGrpSpPr/>
          <p:nvPr/>
        </p:nvGrpSpPr>
        <p:grpSpPr>
          <a:xfrm>
            <a:off x="571500" y="1173361"/>
            <a:ext cx="3914775" cy="1599307"/>
            <a:chOff x="571500" y="1173361"/>
            <a:chExt cx="3914775" cy="1599307"/>
          </a:xfrm>
        </p:grpSpPr>
        <p:sp>
          <p:nvSpPr>
            <p:cNvPr id="4" name="Shape 1"/>
            <p:cNvSpPr/>
            <p:nvPr/>
          </p:nvSpPr>
          <p:spPr>
            <a:xfrm>
              <a:off x="571500" y="1173361"/>
              <a:ext cx="3914775" cy="1599307"/>
            </a:xfrm>
            <a:prstGeom prst="rect">
              <a:avLst/>
            </a:prstGeom>
            <a:solidFill>
              <a:srgbClr val="111111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Shape 2"/>
            <p:cNvSpPr/>
            <p:nvPr/>
          </p:nvSpPr>
          <p:spPr>
            <a:xfrm>
              <a:off x="571500" y="1173361"/>
              <a:ext cx="42863" cy="1599307"/>
            </a:xfrm>
            <a:prstGeom prst="rect">
              <a:avLst/>
            </a:prstGeom>
            <a:solidFill>
              <a:srgbClr val="00FFF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 3"/>
            <p:cNvSpPr/>
            <p:nvPr/>
          </p:nvSpPr>
          <p:spPr>
            <a:xfrm>
              <a:off x="728663" y="1330523"/>
              <a:ext cx="3600450" cy="31253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2200"/>
                </a:lnSpc>
                <a:buNone/>
              </a:pPr>
              <a:r>
                <a:rPr lang="en-US" sz="1602" b="1" kern="0" spc="1" dirty="0">
                  <a:solidFill>
                    <a:srgbClr val="FFFFFF"/>
                  </a:solidFill>
                </a:rPr>
                <a:t>Numerical</a:t>
              </a:r>
              <a:endParaRPr lang="en-US" sz="1602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728663" y="1714500"/>
              <a:ext cx="3600450" cy="19466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400"/>
                </a:lnSpc>
                <a:buNone/>
              </a:pPr>
              <a:r>
                <a:rPr lang="en-US" sz="1050" i="1" dirty="0">
                  <a:solidFill>
                    <a:srgbClr val="888888"/>
                  </a:solidFill>
                </a:rPr>
                <a:t>Quantitative Data</a:t>
              </a:r>
              <a:endParaRPr lang="en-US" sz="105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728663" y="1994892"/>
              <a:ext cx="3600450" cy="24001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900"/>
                </a:lnSpc>
                <a:buNone/>
              </a:pPr>
              <a:r>
                <a:rPr lang="en-US" sz="1193" b="1" dirty="0">
                  <a:solidFill>
                    <a:srgbClr val="00FFFF"/>
                  </a:solidFill>
                </a:rPr>
                <a:t>Continuous:</a:t>
              </a:r>
              <a:r>
                <a:rPr lang="en-US" sz="1269" dirty="0">
                  <a:solidFill>
                    <a:srgbClr val="DDDDDD"/>
                  </a:solidFill>
                </a:rPr>
                <a:t> age, salary, temperature</a:t>
              </a:r>
              <a:endParaRPr lang="en-US" sz="1193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728663" y="2234905"/>
              <a:ext cx="3600450" cy="24001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900"/>
                </a:lnSpc>
                <a:buNone/>
              </a:pPr>
              <a:r>
                <a:rPr lang="en-US" sz="1193" b="1" dirty="0">
                  <a:solidFill>
                    <a:srgbClr val="00FFFF"/>
                  </a:solidFill>
                </a:rPr>
                <a:t>Discrete:</a:t>
              </a:r>
              <a:r>
                <a:rPr lang="en-US" sz="1269" dirty="0">
                  <a:solidFill>
                    <a:srgbClr val="DDDDDD"/>
                  </a:solidFill>
                </a:rPr>
                <a:t> purchase counts, item counts</a:t>
              </a:r>
              <a:endParaRPr lang="en-US" sz="1193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061AC40-6FBD-6FD1-BAF8-921FE1C7DB18}"/>
              </a:ext>
            </a:extLst>
          </p:cNvPr>
          <p:cNvGrpSpPr/>
          <p:nvPr/>
        </p:nvGrpSpPr>
        <p:grpSpPr>
          <a:xfrm>
            <a:off x="4657725" y="1173361"/>
            <a:ext cx="3914775" cy="1599307"/>
            <a:chOff x="4657725" y="1173361"/>
            <a:chExt cx="3914775" cy="1599307"/>
          </a:xfrm>
        </p:grpSpPr>
        <p:sp>
          <p:nvSpPr>
            <p:cNvPr id="10" name="Shape 7"/>
            <p:cNvSpPr/>
            <p:nvPr/>
          </p:nvSpPr>
          <p:spPr>
            <a:xfrm>
              <a:off x="4657725" y="1173361"/>
              <a:ext cx="3914775" cy="1599307"/>
            </a:xfrm>
            <a:prstGeom prst="rect">
              <a:avLst/>
            </a:prstGeom>
            <a:solidFill>
              <a:srgbClr val="111111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Shape 8"/>
            <p:cNvSpPr/>
            <p:nvPr/>
          </p:nvSpPr>
          <p:spPr>
            <a:xfrm>
              <a:off x="4657725" y="1173361"/>
              <a:ext cx="42863" cy="1599307"/>
            </a:xfrm>
            <a:prstGeom prst="rect">
              <a:avLst/>
            </a:prstGeom>
            <a:solidFill>
              <a:srgbClr val="FF00F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9"/>
            <p:cNvSpPr/>
            <p:nvPr/>
          </p:nvSpPr>
          <p:spPr>
            <a:xfrm>
              <a:off x="4814888" y="1330523"/>
              <a:ext cx="3600450" cy="31253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2200"/>
                </a:lnSpc>
                <a:buNone/>
              </a:pPr>
              <a:r>
                <a:rPr lang="en-US" sz="1602" b="1" kern="0" spc="1" dirty="0">
                  <a:solidFill>
                    <a:srgbClr val="FFFFFF"/>
                  </a:solidFill>
                </a:rPr>
                <a:t>Categorical</a:t>
              </a:r>
              <a:endParaRPr lang="en-US" sz="1602" dirty="0"/>
            </a:p>
          </p:txBody>
        </p:sp>
        <p:sp>
          <p:nvSpPr>
            <p:cNvPr id="13" name="Text 10"/>
            <p:cNvSpPr/>
            <p:nvPr/>
          </p:nvSpPr>
          <p:spPr>
            <a:xfrm>
              <a:off x="4814888" y="1714500"/>
              <a:ext cx="3600450" cy="19466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400"/>
                </a:lnSpc>
                <a:buNone/>
              </a:pPr>
              <a:r>
                <a:rPr lang="en-US" sz="1050" i="1" dirty="0">
                  <a:solidFill>
                    <a:srgbClr val="888888"/>
                  </a:solidFill>
                </a:rPr>
                <a:t>Qualitative Data</a:t>
              </a:r>
              <a:endParaRPr lang="en-US" sz="1050" dirty="0"/>
            </a:p>
          </p:txBody>
        </p:sp>
        <p:sp>
          <p:nvSpPr>
            <p:cNvPr id="14" name="Text 11"/>
            <p:cNvSpPr/>
            <p:nvPr/>
          </p:nvSpPr>
          <p:spPr>
            <a:xfrm>
              <a:off x="4814888" y="1994892"/>
              <a:ext cx="3600450" cy="24001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900"/>
                </a:lnSpc>
                <a:buNone/>
              </a:pPr>
              <a:r>
                <a:rPr lang="en-US" sz="1193" b="1" dirty="0">
                  <a:solidFill>
                    <a:srgbClr val="FF00FF"/>
                  </a:solidFill>
                </a:rPr>
                <a:t>Nominal:</a:t>
              </a:r>
              <a:r>
                <a:rPr lang="en-US" sz="1269" dirty="0">
                  <a:solidFill>
                    <a:srgbClr val="DDDDDD"/>
                  </a:solidFill>
                </a:rPr>
                <a:t> color, country, product type</a:t>
              </a:r>
              <a:endParaRPr lang="en-US" sz="1193" dirty="0"/>
            </a:p>
          </p:txBody>
        </p:sp>
        <p:sp>
          <p:nvSpPr>
            <p:cNvPr id="15" name="Text 12"/>
            <p:cNvSpPr/>
            <p:nvPr/>
          </p:nvSpPr>
          <p:spPr>
            <a:xfrm>
              <a:off x="4814888" y="2234905"/>
              <a:ext cx="3600450" cy="24001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900"/>
                </a:lnSpc>
                <a:buNone/>
              </a:pPr>
              <a:r>
                <a:rPr lang="en-US" sz="1193" b="1" dirty="0">
                  <a:solidFill>
                    <a:srgbClr val="FF00FF"/>
                  </a:solidFill>
                </a:rPr>
                <a:t>Ordinal:</a:t>
              </a:r>
              <a:r>
                <a:rPr lang="en-US" sz="1269" dirty="0">
                  <a:solidFill>
                    <a:srgbClr val="DDDDDD"/>
                  </a:solidFill>
                </a:rPr>
                <a:t> education level, 1–5 star rating</a:t>
              </a:r>
              <a:endParaRPr lang="en-US" sz="1193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9518069-2BFA-4F9A-94DE-85825B3EDC22}"/>
              </a:ext>
            </a:extLst>
          </p:cNvPr>
          <p:cNvGrpSpPr/>
          <p:nvPr/>
        </p:nvGrpSpPr>
        <p:grpSpPr>
          <a:xfrm>
            <a:off x="571500" y="2944118"/>
            <a:ext cx="4129088" cy="1599307"/>
            <a:chOff x="571500" y="2944118"/>
            <a:chExt cx="4129088" cy="1599307"/>
          </a:xfrm>
        </p:grpSpPr>
        <p:sp>
          <p:nvSpPr>
            <p:cNvPr id="16" name="Shape 13"/>
            <p:cNvSpPr/>
            <p:nvPr/>
          </p:nvSpPr>
          <p:spPr>
            <a:xfrm>
              <a:off x="571500" y="2944118"/>
              <a:ext cx="3914775" cy="1599307"/>
            </a:xfrm>
            <a:prstGeom prst="rect">
              <a:avLst/>
            </a:prstGeom>
            <a:solidFill>
              <a:srgbClr val="111111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Shape 14"/>
            <p:cNvSpPr/>
            <p:nvPr/>
          </p:nvSpPr>
          <p:spPr>
            <a:xfrm>
              <a:off x="571500" y="2944118"/>
              <a:ext cx="42863" cy="1599307"/>
            </a:xfrm>
            <a:prstGeom prst="rect">
              <a:avLst/>
            </a:prstGeom>
            <a:solidFill>
              <a:srgbClr val="00FFF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15"/>
            <p:cNvSpPr/>
            <p:nvPr/>
          </p:nvSpPr>
          <p:spPr>
            <a:xfrm>
              <a:off x="728663" y="3101280"/>
              <a:ext cx="3600450" cy="31253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2200"/>
                </a:lnSpc>
                <a:buNone/>
              </a:pPr>
              <a:r>
                <a:rPr lang="en-US" sz="1602" b="1" kern="0" spc="1" dirty="0">
                  <a:solidFill>
                    <a:srgbClr val="FFFFFF"/>
                  </a:solidFill>
                </a:rPr>
                <a:t>Text</a:t>
              </a:r>
              <a:endParaRPr lang="en-US" sz="1602" dirty="0"/>
            </a:p>
          </p:txBody>
        </p:sp>
        <p:sp>
          <p:nvSpPr>
            <p:cNvPr id="19" name="Text 16"/>
            <p:cNvSpPr/>
            <p:nvPr/>
          </p:nvSpPr>
          <p:spPr>
            <a:xfrm>
              <a:off x="728663" y="3485257"/>
              <a:ext cx="3600450" cy="19466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400"/>
                </a:lnSpc>
                <a:buNone/>
              </a:pPr>
              <a:r>
                <a:rPr lang="en-US" sz="1050" i="1" dirty="0">
                  <a:solidFill>
                    <a:srgbClr val="888888"/>
                  </a:solidFill>
                </a:rPr>
                <a:t>Unstructured Data</a:t>
              </a:r>
              <a:endParaRPr lang="en-US" sz="1050" dirty="0"/>
            </a:p>
          </p:txBody>
        </p:sp>
        <p:sp>
          <p:nvSpPr>
            <p:cNvPr id="20" name="Text 17"/>
            <p:cNvSpPr/>
            <p:nvPr/>
          </p:nvSpPr>
          <p:spPr>
            <a:xfrm>
              <a:off x="728663" y="3765649"/>
              <a:ext cx="3600450" cy="48002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ts val="1900"/>
                </a:lnSpc>
                <a:buNone/>
              </a:pPr>
              <a:r>
                <a:rPr lang="en-US" sz="1269" dirty="0">
                  <a:solidFill>
                    <a:srgbClr val="DDDDDD"/>
                  </a:solidFill>
                </a:rPr>
                <a:t>Reviews, descriptions, social media posts, emails, documents</a:t>
              </a:r>
              <a:endParaRPr lang="en-US" sz="1269" dirty="0"/>
            </a:p>
          </p:txBody>
        </p:sp>
        <p:sp>
          <p:nvSpPr>
            <p:cNvPr id="22" name="Shape 19"/>
            <p:cNvSpPr/>
            <p:nvPr/>
          </p:nvSpPr>
          <p:spPr>
            <a:xfrm>
              <a:off x="4657725" y="2944118"/>
              <a:ext cx="42863" cy="1599307"/>
            </a:xfrm>
            <a:prstGeom prst="rect">
              <a:avLst/>
            </a:prstGeom>
            <a:solidFill>
              <a:srgbClr val="FF00FF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6E7D476-CD40-300E-ED79-D020144536D1}"/>
              </a:ext>
            </a:extLst>
          </p:cNvPr>
          <p:cNvGrpSpPr/>
          <p:nvPr/>
        </p:nvGrpSpPr>
        <p:grpSpPr>
          <a:xfrm>
            <a:off x="4657725" y="2944118"/>
            <a:ext cx="3914775" cy="1599307"/>
            <a:chOff x="4657725" y="2944118"/>
            <a:chExt cx="3914775" cy="1599307"/>
          </a:xfrm>
        </p:grpSpPr>
        <p:sp>
          <p:nvSpPr>
            <p:cNvPr id="21" name="Shape 18"/>
            <p:cNvSpPr/>
            <p:nvPr/>
          </p:nvSpPr>
          <p:spPr>
            <a:xfrm>
              <a:off x="4657725" y="2944118"/>
              <a:ext cx="3914775" cy="1599307"/>
            </a:xfrm>
            <a:prstGeom prst="rect">
              <a:avLst/>
            </a:prstGeom>
            <a:solidFill>
              <a:srgbClr val="111111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 20"/>
            <p:cNvSpPr/>
            <p:nvPr/>
          </p:nvSpPr>
          <p:spPr>
            <a:xfrm>
              <a:off x="4814888" y="3101280"/>
              <a:ext cx="3600450" cy="31253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2200"/>
                </a:lnSpc>
                <a:buNone/>
              </a:pPr>
              <a:r>
                <a:rPr lang="en-US" sz="1602" b="1" kern="0" spc="1" dirty="0">
                  <a:solidFill>
                    <a:srgbClr val="FFFFFF"/>
                  </a:solidFill>
                </a:rPr>
                <a:t>DateTime</a:t>
              </a:r>
              <a:endParaRPr lang="en-US" sz="1602" dirty="0"/>
            </a:p>
          </p:txBody>
        </p:sp>
        <p:sp>
          <p:nvSpPr>
            <p:cNvPr id="24" name="Text 21"/>
            <p:cNvSpPr/>
            <p:nvPr/>
          </p:nvSpPr>
          <p:spPr>
            <a:xfrm>
              <a:off x="4814888" y="3485257"/>
              <a:ext cx="3600450" cy="19466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400"/>
                </a:lnSpc>
                <a:buNone/>
              </a:pPr>
              <a:r>
                <a:rPr lang="en-US" sz="1050" i="1" dirty="0">
                  <a:solidFill>
                    <a:srgbClr val="888888"/>
                  </a:solidFill>
                </a:rPr>
                <a:t>Temporal Data</a:t>
              </a:r>
              <a:endParaRPr lang="en-US" sz="1050" dirty="0"/>
            </a:p>
          </p:txBody>
        </p:sp>
        <p:sp>
          <p:nvSpPr>
            <p:cNvPr id="25" name="Text 22"/>
            <p:cNvSpPr/>
            <p:nvPr/>
          </p:nvSpPr>
          <p:spPr>
            <a:xfrm>
              <a:off x="4814888" y="3765649"/>
              <a:ext cx="3600450" cy="24001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900"/>
                </a:lnSpc>
                <a:buNone/>
              </a:pPr>
              <a:r>
                <a:rPr lang="en-US" sz="1269" dirty="0">
                  <a:solidFill>
                    <a:srgbClr val="DDDDDD"/>
                  </a:solidFill>
                </a:rPr>
                <a:t>Timestamps, dates, time series</a:t>
              </a:r>
              <a:endParaRPr lang="en-US" sz="1269" dirty="0"/>
            </a:p>
          </p:txBody>
        </p:sp>
      </p:grpSp>
      <p:sp>
        <p:nvSpPr>
          <p:cNvPr id="28" name="Text 25"/>
          <p:cNvSpPr/>
          <p:nvPr/>
        </p:nvSpPr>
        <p:spPr>
          <a:xfrm>
            <a:off x="571500" y="4836319"/>
            <a:ext cx="421590" cy="112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/>
              <a:t>Module 04</a:t>
            </a:r>
          </a:p>
        </p:txBody>
      </p:sp>
      <p:sp>
        <p:nvSpPr>
          <p:cNvPr id="29" name="Text 26"/>
          <p:cNvSpPr/>
          <p:nvPr/>
        </p:nvSpPr>
        <p:spPr>
          <a:xfrm>
            <a:off x="6144295" y="4836319"/>
            <a:ext cx="2095125" cy="112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/>
              <a:t>Working with Data &amp; EDA (2026 Edition) • Classic ML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428625"/>
            <a:ext cx="3814890" cy="4671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dirty="0">
                <a:solidFill>
                  <a:schemeClr val="accent4"/>
                </a:solidFill>
              </a:rPr>
              <a:t>Why Data Types Matter</a:t>
            </a:r>
            <a:endParaRPr lang="en-US" sz="2862" dirty="0">
              <a:solidFill>
                <a:schemeClr val="accent4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1259086"/>
            <a:ext cx="102592" cy="300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4" dirty="0"/>
              <a:t>•</a:t>
            </a:r>
          </a:p>
        </p:txBody>
      </p:sp>
      <p:sp>
        <p:nvSpPr>
          <p:cNvPr id="5" name="Text 2"/>
          <p:cNvSpPr/>
          <p:nvPr/>
        </p:nvSpPr>
        <p:spPr>
          <a:xfrm>
            <a:off x="821531" y="1262658"/>
            <a:ext cx="3660939" cy="300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4" dirty="0"/>
              <a:t>Different types need different handling:</a:t>
            </a:r>
          </a:p>
        </p:txBody>
      </p:sp>
      <p:sp>
        <p:nvSpPr>
          <p:cNvPr id="6" name="Text 3"/>
          <p:cNvSpPr/>
          <p:nvPr/>
        </p:nvSpPr>
        <p:spPr>
          <a:xfrm>
            <a:off x="821531" y="1650541"/>
            <a:ext cx="81754" cy="2412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77" dirty="0"/>
              <a:t>–</a:t>
            </a:r>
          </a:p>
        </p:txBody>
      </p:sp>
      <p:sp>
        <p:nvSpPr>
          <p:cNvPr id="7" name="Text 4"/>
          <p:cNvSpPr/>
          <p:nvPr/>
        </p:nvSpPr>
        <p:spPr>
          <a:xfrm>
            <a:off x="1071563" y="1654113"/>
            <a:ext cx="851772" cy="2412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77" dirty="0">
                <a:solidFill>
                  <a:schemeClr val="accent4"/>
                </a:solidFill>
              </a:rPr>
              <a:t>Numerical:</a:t>
            </a:r>
          </a:p>
        </p:txBody>
      </p:sp>
      <p:sp>
        <p:nvSpPr>
          <p:cNvPr id="8" name="Text 5"/>
          <p:cNvSpPr/>
          <p:nvPr/>
        </p:nvSpPr>
        <p:spPr>
          <a:xfrm>
            <a:off x="2021625" y="1654113"/>
            <a:ext cx="3007233" cy="2412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77" dirty="0"/>
              <a:t>can calculate mean, standard deviation</a:t>
            </a:r>
          </a:p>
        </p:txBody>
      </p:sp>
      <p:sp>
        <p:nvSpPr>
          <p:cNvPr id="9" name="Text 6"/>
          <p:cNvSpPr/>
          <p:nvPr/>
        </p:nvSpPr>
        <p:spPr>
          <a:xfrm>
            <a:off x="821531" y="1982000"/>
            <a:ext cx="81754" cy="2412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77" dirty="0"/>
              <a:t>–</a:t>
            </a:r>
          </a:p>
        </p:txBody>
      </p:sp>
      <p:sp>
        <p:nvSpPr>
          <p:cNvPr id="10" name="Text 7"/>
          <p:cNvSpPr/>
          <p:nvPr/>
        </p:nvSpPr>
        <p:spPr>
          <a:xfrm>
            <a:off x="1071563" y="1985572"/>
            <a:ext cx="929870" cy="2412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77" dirty="0">
                <a:solidFill>
                  <a:schemeClr val="accent4"/>
                </a:solidFill>
              </a:rPr>
              <a:t>Categorical:</a:t>
            </a:r>
          </a:p>
        </p:txBody>
      </p:sp>
      <p:sp>
        <p:nvSpPr>
          <p:cNvPr id="11" name="Text 8"/>
          <p:cNvSpPr/>
          <p:nvPr/>
        </p:nvSpPr>
        <p:spPr>
          <a:xfrm>
            <a:off x="2107239" y="1985572"/>
            <a:ext cx="2327560" cy="2412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77" dirty="0"/>
              <a:t>need encoding (one-hot, label)</a:t>
            </a:r>
          </a:p>
        </p:txBody>
      </p:sp>
      <p:sp>
        <p:nvSpPr>
          <p:cNvPr id="12" name="Text 9"/>
          <p:cNvSpPr/>
          <p:nvPr/>
        </p:nvSpPr>
        <p:spPr>
          <a:xfrm>
            <a:off x="821531" y="2313459"/>
            <a:ext cx="81754" cy="2412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77" dirty="0"/>
              <a:t>–</a:t>
            </a:r>
          </a:p>
        </p:txBody>
      </p:sp>
      <p:sp>
        <p:nvSpPr>
          <p:cNvPr id="13" name="Text 10"/>
          <p:cNvSpPr/>
          <p:nvPr/>
        </p:nvSpPr>
        <p:spPr>
          <a:xfrm>
            <a:off x="1071563" y="2317031"/>
            <a:ext cx="347018" cy="2412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77" dirty="0">
                <a:solidFill>
                  <a:schemeClr val="accent4"/>
                </a:solidFill>
              </a:rPr>
              <a:t>Text:</a:t>
            </a:r>
          </a:p>
        </p:txBody>
      </p:sp>
      <p:sp>
        <p:nvSpPr>
          <p:cNvPr id="14" name="Text 11"/>
          <p:cNvSpPr/>
          <p:nvPr/>
        </p:nvSpPr>
        <p:spPr>
          <a:xfrm>
            <a:off x="1477975" y="2317031"/>
            <a:ext cx="2664576" cy="2412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77" dirty="0"/>
              <a:t>requires tokenization, vectorization</a:t>
            </a:r>
          </a:p>
        </p:txBody>
      </p:sp>
      <p:sp>
        <p:nvSpPr>
          <p:cNvPr id="15" name="Text 12"/>
          <p:cNvSpPr/>
          <p:nvPr/>
        </p:nvSpPr>
        <p:spPr>
          <a:xfrm>
            <a:off x="571500" y="2752074"/>
            <a:ext cx="102592" cy="300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4" dirty="0"/>
              <a:t>•</a:t>
            </a:r>
          </a:p>
        </p:txBody>
      </p:sp>
      <p:sp>
        <p:nvSpPr>
          <p:cNvPr id="16" name="Text 13"/>
          <p:cNvSpPr/>
          <p:nvPr/>
        </p:nvSpPr>
        <p:spPr>
          <a:xfrm>
            <a:off x="821531" y="2755646"/>
            <a:ext cx="1750479" cy="300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4" dirty="0"/>
              <a:t>Wrong treatment =</a:t>
            </a:r>
          </a:p>
        </p:txBody>
      </p:sp>
      <p:sp>
        <p:nvSpPr>
          <p:cNvPr id="17" name="Text 14"/>
          <p:cNvSpPr/>
          <p:nvPr/>
        </p:nvSpPr>
        <p:spPr>
          <a:xfrm>
            <a:off x="2861574" y="2755646"/>
            <a:ext cx="2345835" cy="300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4" dirty="0">
                <a:solidFill>
                  <a:schemeClr val="accent4"/>
                </a:solidFill>
              </a:rPr>
              <a:t>poor model performance</a:t>
            </a:r>
          </a:p>
        </p:txBody>
      </p:sp>
      <p:sp>
        <p:nvSpPr>
          <p:cNvPr id="18" name="Text 15"/>
          <p:cNvSpPr/>
          <p:nvPr/>
        </p:nvSpPr>
        <p:spPr>
          <a:xfrm>
            <a:off x="571500" y="3250685"/>
            <a:ext cx="102592" cy="300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4" dirty="0"/>
              <a:t>•</a:t>
            </a:r>
          </a:p>
        </p:txBody>
      </p:sp>
      <p:sp>
        <p:nvSpPr>
          <p:cNvPr id="19" name="Text 16"/>
          <p:cNvSpPr/>
          <p:nvPr/>
        </p:nvSpPr>
        <p:spPr>
          <a:xfrm>
            <a:off x="821531" y="3254257"/>
            <a:ext cx="6024213" cy="300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4" dirty="0"/>
              <a:t>Example: treating ZIP code as numerical (Wrong! It's categorical)</a:t>
            </a:r>
          </a:p>
        </p:txBody>
      </p:sp>
      <p:sp>
        <p:nvSpPr>
          <p:cNvPr id="21" name="Shape 18"/>
          <p:cNvSpPr/>
          <p:nvPr/>
        </p:nvSpPr>
        <p:spPr>
          <a:xfrm>
            <a:off x="571500" y="3744963"/>
            <a:ext cx="35719" cy="882253"/>
          </a:xfrm>
          <a:prstGeom prst="rect">
            <a:avLst/>
          </a:prstGeom>
          <a:solidFill>
            <a:srgbClr val="00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85813" y="3887838"/>
            <a:ext cx="2419637" cy="235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 dirty="0"/>
              <a:t>Always check data types first:</a:t>
            </a:r>
          </a:p>
        </p:txBody>
      </p:sp>
      <p:sp>
        <p:nvSpPr>
          <p:cNvPr id="23" name="Shape 20"/>
          <p:cNvSpPr/>
          <p:nvPr/>
        </p:nvSpPr>
        <p:spPr>
          <a:xfrm>
            <a:off x="785813" y="4205441"/>
            <a:ext cx="1022477" cy="323255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785813" y="4196805"/>
            <a:ext cx="1022477" cy="323255"/>
          </a:xfrm>
          <a:prstGeom prst="rect">
            <a:avLst/>
          </a:prstGeom>
          <a:noFill/>
          <a:ln/>
        </p:spPr>
        <p:txBody>
          <a:bodyPr wrap="none" lIns="127508" tIns="42545" rIns="127508" bIns="42545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77" dirty="0">
                <a:solidFill>
                  <a:srgbClr val="00FF00"/>
                </a:solidFill>
              </a:rPr>
              <a:t>df.dtypes</a:t>
            </a:r>
            <a:endParaRPr lang="en-US" sz="1377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1F6C9FD-8603-5057-D30C-109DF21722F6}"/>
              </a:ext>
            </a:extLst>
          </p:cNvPr>
          <p:cNvGrpSpPr/>
          <p:nvPr/>
        </p:nvGrpSpPr>
        <p:grpSpPr>
          <a:xfrm>
            <a:off x="571500" y="4868242"/>
            <a:ext cx="7667920" cy="112403"/>
            <a:chOff x="571500" y="4924444"/>
            <a:chExt cx="7667920" cy="112403"/>
          </a:xfrm>
        </p:grpSpPr>
        <p:sp>
          <p:nvSpPr>
            <p:cNvPr id="27" name="Text 24"/>
            <p:cNvSpPr/>
            <p:nvPr/>
          </p:nvSpPr>
          <p:spPr>
            <a:xfrm>
              <a:off x="571500" y="4924444"/>
              <a:ext cx="421590" cy="1124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900"/>
                </a:lnSpc>
                <a:buNone/>
              </a:pPr>
              <a:r>
                <a:rPr lang="en-US" sz="727" dirty="0"/>
                <a:t>Module 04</a:t>
              </a:r>
            </a:p>
          </p:txBody>
        </p:sp>
        <p:sp>
          <p:nvSpPr>
            <p:cNvPr id="28" name="Text 25"/>
            <p:cNvSpPr/>
            <p:nvPr/>
          </p:nvSpPr>
          <p:spPr>
            <a:xfrm>
              <a:off x="6144295" y="4924444"/>
              <a:ext cx="2095125" cy="1124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900"/>
                </a:lnSpc>
                <a:buNone/>
              </a:pPr>
              <a:r>
                <a:rPr lang="en-US" sz="727" dirty="0"/>
                <a:t>Working with Data &amp; EDA (2026 Edition) • Classic ML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428625"/>
            <a:ext cx="4900893" cy="4671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FF00FF"/>
                </a:solidFill>
              </a:rPr>
              <a:t>Step 1: Initial Data Inspection</a:t>
            </a:r>
            <a:endParaRPr lang="en-US" sz="2862" dirty="0">
              <a:solidFill>
                <a:srgbClr val="FF00FF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1330523"/>
            <a:ext cx="85976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4" dirty="0">
                <a:solidFill>
                  <a:srgbClr val="FF00FF"/>
                </a:solidFill>
              </a:rPr>
              <a:t>•</a:t>
            </a:r>
            <a:endParaRPr lang="en-US" sz="1704" dirty="0"/>
          </a:p>
        </p:txBody>
      </p:sp>
      <p:sp>
        <p:nvSpPr>
          <p:cNvPr id="5" name="Text 2"/>
          <p:cNvSpPr/>
          <p:nvPr/>
        </p:nvSpPr>
        <p:spPr>
          <a:xfrm>
            <a:off x="857250" y="1334095"/>
            <a:ext cx="2462982" cy="300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4" dirty="0"/>
              <a:t>Load and preview the data</a:t>
            </a:r>
          </a:p>
        </p:txBody>
      </p:sp>
      <p:sp>
        <p:nvSpPr>
          <p:cNvPr id="6" name="Text 3"/>
          <p:cNvSpPr/>
          <p:nvPr/>
        </p:nvSpPr>
        <p:spPr>
          <a:xfrm>
            <a:off x="857250" y="1757697"/>
            <a:ext cx="81754" cy="2412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77" dirty="0">
                <a:solidFill>
                  <a:schemeClr val="accent4"/>
                </a:solidFill>
              </a:rPr>
              <a:t>–</a:t>
            </a:r>
          </a:p>
        </p:txBody>
      </p:sp>
      <p:sp>
        <p:nvSpPr>
          <p:cNvPr id="7" name="Text 4"/>
          <p:cNvSpPr/>
          <p:nvPr/>
        </p:nvSpPr>
        <p:spPr>
          <a:xfrm>
            <a:off x="1143000" y="1761269"/>
            <a:ext cx="1123706" cy="2412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77" dirty="0"/>
              <a:t>First/last rows:</a:t>
            </a:r>
          </a:p>
        </p:txBody>
      </p:sp>
      <p:sp>
        <p:nvSpPr>
          <p:cNvPr id="8" name="Shape 5"/>
          <p:cNvSpPr/>
          <p:nvPr/>
        </p:nvSpPr>
        <p:spPr>
          <a:xfrm>
            <a:off x="2402309" y="1768413"/>
            <a:ext cx="1014413" cy="24824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402309" y="1768413"/>
            <a:ext cx="1014413" cy="248245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36" dirty="0">
                <a:solidFill>
                  <a:srgbClr val="FF00FF"/>
                </a:solidFill>
              </a:rPr>
              <a:t>df.head()</a:t>
            </a:r>
            <a:endParaRPr lang="en-US" sz="1236" dirty="0"/>
          </a:p>
        </p:txBody>
      </p:sp>
      <p:sp>
        <p:nvSpPr>
          <p:cNvPr id="10" name="Text 7"/>
          <p:cNvSpPr/>
          <p:nvPr/>
        </p:nvSpPr>
        <p:spPr>
          <a:xfrm>
            <a:off x="3416722" y="1761269"/>
            <a:ext cx="90274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77" dirty="0">
                <a:solidFill>
                  <a:srgbClr val="CCCCCC"/>
                </a:solidFill>
              </a:rPr>
              <a:t>,</a:t>
            </a:r>
            <a:endParaRPr lang="en-US" sz="1377" dirty="0"/>
          </a:p>
        </p:txBody>
      </p:sp>
      <p:sp>
        <p:nvSpPr>
          <p:cNvPr id="11" name="Shape 8"/>
          <p:cNvSpPr/>
          <p:nvPr/>
        </p:nvSpPr>
        <p:spPr>
          <a:xfrm>
            <a:off x="3506995" y="1768413"/>
            <a:ext cx="1014413" cy="24824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506995" y="1768413"/>
            <a:ext cx="1014413" cy="248245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36" dirty="0">
                <a:solidFill>
                  <a:srgbClr val="FF00FF"/>
                </a:solidFill>
              </a:rPr>
              <a:t>df.tail()</a:t>
            </a:r>
            <a:endParaRPr lang="en-US" sz="1236" dirty="0"/>
          </a:p>
        </p:txBody>
      </p:sp>
      <p:sp>
        <p:nvSpPr>
          <p:cNvPr id="13" name="Text 10"/>
          <p:cNvSpPr/>
          <p:nvPr/>
        </p:nvSpPr>
        <p:spPr>
          <a:xfrm>
            <a:off x="857250" y="2124875"/>
            <a:ext cx="81754" cy="2412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77" dirty="0">
                <a:solidFill>
                  <a:schemeClr val="accent4"/>
                </a:solidFill>
              </a:rPr>
              <a:t>–</a:t>
            </a:r>
          </a:p>
        </p:txBody>
      </p:sp>
      <p:sp>
        <p:nvSpPr>
          <p:cNvPr id="14" name="Text 11"/>
          <p:cNvSpPr/>
          <p:nvPr/>
        </p:nvSpPr>
        <p:spPr>
          <a:xfrm>
            <a:off x="1143000" y="2128447"/>
            <a:ext cx="2866106" cy="2412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77" dirty="0"/>
              <a:t>Shape: how many rows and columns?</a:t>
            </a:r>
          </a:p>
        </p:txBody>
      </p:sp>
      <p:sp>
        <p:nvSpPr>
          <p:cNvPr id="15" name="Shape 12"/>
          <p:cNvSpPr/>
          <p:nvPr/>
        </p:nvSpPr>
        <p:spPr>
          <a:xfrm>
            <a:off x="4335475" y="2135591"/>
            <a:ext cx="914400" cy="24824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335475" y="2135591"/>
            <a:ext cx="914400" cy="248245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36" dirty="0">
                <a:solidFill>
                  <a:srgbClr val="FF00FF"/>
                </a:solidFill>
              </a:rPr>
              <a:t>df.shape</a:t>
            </a:r>
            <a:endParaRPr lang="en-US" sz="1236" dirty="0"/>
          </a:p>
        </p:txBody>
      </p:sp>
      <p:sp>
        <p:nvSpPr>
          <p:cNvPr id="17" name="Text 14"/>
          <p:cNvSpPr/>
          <p:nvPr/>
        </p:nvSpPr>
        <p:spPr>
          <a:xfrm>
            <a:off x="857250" y="2492053"/>
            <a:ext cx="81754" cy="2412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77" dirty="0">
                <a:solidFill>
                  <a:schemeClr val="accent4"/>
                </a:solidFill>
              </a:rPr>
              <a:t>–</a:t>
            </a:r>
          </a:p>
        </p:txBody>
      </p:sp>
      <p:sp>
        <p:nvSpPr>
          <p:cNvPr id="18" name="Text 15"/>
          <p:cNvSpPr/>
          <p:nvPr/>
        </p:nvSpPr>
        <p:spPr>
          <a:xfrm>
            <a:off x="1143000" y="2495624"/>
            <a:ext cx="2000548" cy="2412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77" dirty="0"/>
              <a:t>Column names and types:</a:t>
            </a:r>
          </a:p>
        </p:txBody>
      </p:sp>
      <p:sp>
        <p:nvSpPr>
          <p:cNvPr id="19" name="Shape 16"/>
          <p:cNvSpPr/>
          <p:nvPr/>
        </p:nvSpPr>
        <p:spPr>
          <a:xfrm>
            <a:off x="3376147" y="2502768"/>
            <a:ext cx="1014413" cy="24824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376147" y="2502768"/>
            <a:ext cx="1014413" cy="248245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36" dirty="0">
                <a:solidFill>
                  <a:srgbClr val="FF00FF"/>
                </a:solidFill>
              </a:rPr>
              <a:t>df.info()</a:t>
            </a:r>
            <a:endParaRPr lang="en-US" sz="1236" dirty="0"/>
          </a:p>
        </p:txBody>
      </p:sp>
      <p:sp>
        <p:nvSpPr>
          <p:cNvPr id="21" name="Text 18"/>
          <p:cNvSpPr/>
          <p:nvPr/>
        </p:nvSpPr>
        <p:spPr>
          <a:xfrm>
            <a:off x="571500" y="2966386"/>
            <a:ext cx="85976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4" dirty="0">
                <a:solidFill>
                  <a:srgbClr val="FF00FF"/>
                </a:solidFill>
              </a:rPr>
              <a:t>•</a:t>
            </a:r>
            <a:endParaRPr lang="en-US" sz="1704" dirty="0"/>
          </a:p>
        </p:txBody>
      </p:sp>
      <p:sp>
        <p:nvSpPr>
          <p:cNvPr id="22" name="Text 19"/>
          <p:cNvSpPr/>
          <p:nvPr/>
        </p:nvSpPr>
        <p:spPr>
          <a:xfrm>
            <a:off x="857250" y="2969958"/>
            <a:ext cx="2409249" cy="300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4" dirty="0"/>
              <a:t>Check for obvious issues:</a:t>
            </a:r>
          </a:p>
        </p:txBody>
      </p:sp>
      <p:sp>
        <p:nvSpPr>
          <p:cNvPr id="23" name="Text 20"/>
          <p:cNvSpPr/>
          <p:nvPr/>
        </p:nvSpPr>
        <p:spPr>
          <a:xfrm>
            <a:off x="857250" y="3393560"/>
            <a:ext cx="81754" cy="2412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77" dirty="0">
                <a:solidFill>
                  <a:schemeClr val="accent4"/>
                </a:solidFill>
              </a:rPr>
              <a:t>–</a:t>
            </a:r>
          </a:p>
        </p:txBody>
      </p:sp>
      <p:sp>
        <p:nvSpPr>
          <p:cNvPr id="24" name="Text 21"/>
          <p:cNvSpPr/>
          <p:nvPr/>
        </p:nvSpPr>
        <p:spPr>
          <a:xfrm>
            <a:off x="1143000" y="3397132"/>
            <a:ext cx="3111942" cy="2412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77" dirty="0"/>
              <a:t>Are column names clear and consistent?</a:t>
            </a:r>
          </a:p>
        </p:txBody>
      </p:sp>
      <p:sp>
        <p:nvSpPr>
          <p:cNvPr id="25" name="Text 22"/>
          <p:cNvSpPr/>
          <p:nvPr/>
        </p:nvSpPr>
        <p:spPr>
          <a:xfrm>
            <a:off x="857250" y="3760738"/>
            <a:ext cx="81754" cy="2412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77" dirty="0">
                <a:solidFill>
                  <a:schemeClr val="accent4"/>
                </a:solidFill>
              </a:rPr>
              <a:t>–</a:t>
            </a:r>
          </a:p>
        </p:txBody>
      </p:sp>
      <p:sp>
        <p:nvSpPr>
          <p:cNvPr id="26" name="Text 23"/>
          <p:cNvSpPr/>
          <p:nvPr/>
        </p:nvSpPr>
        <p:spPr>
          <a:xfrm>
            <a:off x="1143000" y="3764310"/>
            <a:ext cx="3983335" cy="2412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77" dirty="0"/>
              <a:t>Do data types make sense? (e.g., is Price a number?)</a:t>
            </a:r>
          </a:p>
        </p:txBody>
      </p:sp>
      <p:sp>
        <p:nvSpPr>
          <p:cNvPr id="27" name="Text 24"/>
          <p:cNvSpPr/>
          <p:nvPr/>
        </p:nvSpPr>
        <p:spPr>
          <a:xfrm>
            <a:off x="857250" y="4127915"/>
            <a:ext cx="81754" cy="2412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77" dirty="0">
                <a:solidFill>
                  <a:schemeClr val="accent4"/>
                </a:solidFill>
              </a:rPr>
              <a:t>–</a:t>
            </a:r>
          </a:p>
        </p:txBody>
      </p:sp>
      <p:sp>
        <p:nvSpPr>
          <p:cNvPr id="28" name="Text 25"/>
          <p:cNvSpPr/>
          <p:nvPr/>
        </p:nvSpPr>
        <p:spPr>
          <a:xfrm>
            <a:off x="1143000" y="4131487"/>
            <a:ext cx="2993961" cy="2412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77" dirty="0"/>
              <a:t>Any immediate red flags in the preview?</a:t>
            </a:r>
          </a:p>
        </p:txBody>
      </p:sp>
      <p:sp>
        <p:nvSpPr>
          <p:cNvPr id="31" name="Text 28"/>
          <p:cNvSpPr/>
          <p:nvPr/>
        </p:nvSpPr>
        <p:spPr>
          <a:xfrm>
            <a:off x="571500" y="4849657"/>
            <a:ext cx="421590" cy="112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/>
              <a:t>Module 04</a:t>
            </a:r>
          </a:p>
        </p:txBody>
      </p:sp>
      <p:sp>
        <p:nvSpPr>
          <p:cNvPr id="32" name="Text 29"/>
          <p:cNvSpPr/>
          <p:nvPr/>
        </p:nvSpPr>
        <p:spPr>
          <a:xfrm>
            <a:off x="6144295" y="4849657"/>
            <a:ext cx="2095125" cy="112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/>
              <a:t>Working with Data &amp; EDA (2026 Edition) • Classic ML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428625"/>
            <a:ext cx="4488408" cy="4671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FF00FF"/>
                </a:solidFill>
              </a:rPr>
              <a:t>Step 2: Summary Statistics</a:t>
            </a:r>
            <a:endParaRPr lang="en-US" sz="2862" dirty="0">
              <a:solidFill>
                <a:srgbClr val="FF00FF"/>
              </a:solidFill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0" y="1401961"/>
            <a:ext cx="3714750" cy="3312914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71500" y="1401961"/>
            <a:ext cx="3714750" cy="28575"/>
          </a:xfrm>
          <a:prstGeom prst="rect">
            <a:avLst/>
          </a:prstGeom>
          <a:solidFill>
            <a:srgbClr val="FF0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57250" y="1687711"/>
            <a:ext cx="3143250" cy="427938"/>
          </a:xfrm>
          <a:prstGeom prst="rect">
            <a:avLst/>
          </a:prstGeom>
          <a:noFill/>
          <a:ln/>
        </p:spPr>
        <p:txBody>
          <a:bodyPr wrap="square" lIns="0" tIns="0" rIns="0" bIns="127508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24" dirty="0"/>
              <a:t>Numerical Features</a:t>
            </a:r>
          </a:p>
        </p:txBody>
      </p:sp>
      <p:sp>
        <p:nvSpPr>
          <p:cNvPr id="7" name="Text 4"/>
          <p:cNvSpPr/>
          <p:nvPr/>
        </p:nvSpPr>
        <p:spPr>
          <a:xfrm>
            <a:off x="857250" y="2366367"/>
            <a:ext cx="89768" cy="2643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/>
              <a:t>•</a:t>
            </a:r>
          </a:p>
        </p:txBody>
      </p:sp>
      <p:sp>
        <p:nvSpPr>
          <p:cNvPr id="8" name="Text 5"/>
          <p:cNvSpPr/>
          <p:nvPr/>
        </p:nvSpPr>
        <p:spPr>
          <a:xfrm>
            <a:off x="1071563" y="2368153"/>
            <a:ext cx="2595330" cy="5532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/>
              <a:t>Mean, median, min, max, std dev</a:t>
            </a:r>
          </a:p>
        </p:txBody>
      </p:sp>
      <p:sp>
        <p:nvSpPr>
          <p:cNvPr id="9" name="Text 6"/>
          <p:cNvSpPr/>
          <p:nvPr/>
        </p:nvSpPr>
        <p:spPr>
          <a:xfrm>
            <a:off x="857250" y="3069301"/>
            <a:ext cx="89768" cy="2643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/>
              <a:t>•</a:t>
            </a:r>
          </a:p>
        </p:txBody>
      </p:sp>
      <p:sp>
        <p:nvSpPr>
          <p:cNvPr id="10" name="Text 7"/>
          <p:cNvSpPr/>
          <p:nvPr/>
        </p:nvSpPr>
        <p:spPr>
          <a:xfrm>
            <a:off x="1071563" y="3071087"/>
            <a:ext cx="2183290" cy="2643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/>
              <a:t>Quartiles (25%, 50%, 75%)</a:t>
            </a:r>
          </a:p>
        </p:txBody>
      </p:sp>
      <p:sp>
        <p:nvSpPr>
          <p:cNvPr id="11" name="Shape 8"/>
          <p:cNvSpPr/>
          <p:nvPr/>
        </p:nvSpPr>
        <p:spPr>
          <a:xfrm>
            <a:off x="857250" y="3563643"/>
            <a:ext cx="3143250" cy="659011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57250" y="3563643"/>
            <a:ext cx="28575" cy="659011"/>
          </a:xfrm>
          <a:prstGeom prst="rect">
            <a:avLst/>
          </a:prstGeom>
          <a:solidFill>
            <a:srgbClr val="00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64406" y="3670799"/>
            <a:ext cx="1005083" cy="1488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chemeClr val="bg1"/>
                </a:solidFill>
              </a:rPr>
              <a:t>Pandas Command:</a:t>
            </a:r>
          </a:p>
        </p:txBody>
      </p:sp>
      <p:sp>
        <p:nvSpPr>
          <p:cNvPr id="14" name="Text 11"/>
          <p:cNvSpPr/>
          <p:nvPr/>
        </p:nvSpPr>
        <p:spPr>
          <a:xfrm>
            <a:off x="964406" y="3881540"/>
            <a:ext cx="99356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00FF00"/>
                </a:solidFill>
              </a:rPr>
              <a:t>df.describe()</a:t>
            </a:r>
            <a:endParaRPr lang="en-US" sz="1269" dirty="0"/>
          </a:p>
        </p:txBody>
      </p:sp>
      <p:sp>
        <p:nvSpPr>
          <p:cNvPr id="15" name="Shape 12"/>
          <p:cNvSpPr/>
          <p:nvPr/>
        </p:nvSpPr>
        <p:spPr>
          <a:xfrm>
            <a:off x="4857750" y="1401961"/>
            <a:ext cx="3714750" cy="3312914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857750" y="1401961"/>
            <a:ext cx="3714750" cy="28575"/>
          </a:xfrm>
          <a:prstGeom prst="rect">
            <a:avLst/>
          </a:prstGeom>
          <a:solidFill>
            <a:srgbClr val="FF0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143500" y="1687711"/>
            <a:ext cx="3143250" cy="427938"/>
          </a:xfrm>
          <a:prstGeom prst="rect">
            <a:avLst/>
          </a:prstGeom>
          <a:noFill/>
          <a:ln/>
        </p:spPr>
        <p:txBody>
          <a:bodyPr wrap="square" lIns="0" tIns="0" rIns="0" bIns="127508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24" dirty="0"/>
              <a:t>Categorical Features</a:t>
            </a:r>
          </a:p>
        </p:txBody>
      </p:sp>
      <p:sp>
        <p:nvSpPr>
          <p:cNvPr id="18" name="Text 15"/>
          <p:cNvSpPr/>
          <p:nvPr/>
        </p:nvSpPr>
        <p:spPr>
          <a:xfrm>
            <a:off x="5143500" y="2366367"/>
            <a:ext cx="89768" cy="2643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/>
              <a:t>•</a:t>
            </a:r>
          </a:p>
        </p:txBody>
      </p:sp>
      <p:sp>
        <p:nvSpPr>
          <p:cNvPr id="19" name="Text 16"/>
          <p:cNvSpPr/>
          <p:nvPr/>
        </p:nvSpPr>
        <p:spPr>
          <a:xfrm>
            <a:off x="5357813" y="2368153"/>
            <a:ext cx="1685718" cy="2643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/>
              <a:t>Unique values count</a:t>
            </a:r>
          </a:p>
        </p:txBody>
      </p:sp>
      <p:sp>
        <p:nvSpPr>
          <p:cNvPr id="20" name="Text 17"/>
          <p:cNvSpPr/>
          <p:nvPr/>
        </p:nvSpPr>
        <p:spPr>
          <a:xfrm>
            <a:off x="5143500" y="2789272"/>
            <a:ext cx="89768" cy="2643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/>
              <a:t>•</a:t>
            </a:r>
          </a:p>
        </p:txBody>
      </p:sp>
      <p:sp>
        <p:nvSpPr>
          <p:cNvPr id="21" name="Text 18"/>
          <p:cNvSpPr/>
          <p:nvPr/>
        </p:nvSpPr>
        <p:spPr>
          <a:xfrm>
            <a:off x="5357813" y="2791058"/>
            <a:ext cx="2046201" cy="2643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/>
              <a:t>Most frequent categories</a:t>
            </a:r>
          </a:p>
        </p:txBody>
      </p:sp>
      <p:sp>
        <p:nvSpPr>
          <p:cNvPr id="22" name="Shape 19"/>
          <p:cNvSpPr/>
          <p:nvPr/>
        </p:nvSpPr>
        <p:spPr>
          <a:xfrm>
            <a:off x="5143500" y="3283614"/>
            <a:ext cx="3143250" cy="659011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143500" y="3283614"/>
            <a:ext cx="28575" cy="659011"/>
          </a:xfrm>
          <a:prstGeom prst="rect">
            <a:avLst/>
          </a:prstGeom>
          <a:solidFill>
            <a:srgbClr val="00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250656" y="3390770"/>
            <a:ext cx="1005083" cy="1488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chemeClr val="bg1"/>
                </a:solidFill>
              </a:rPr>
              <a:t>Pandas Command:</a:t>
            </a:r>
          </a:p>
        </p:txBody>
      </p:sp>
      <p:sp>
        <p:nvSpPr>
          <p:cNvPr id="25" name="Text 22"/>
          <p:cNvSpPr/>
          <p:nvPr/>
        </p:nvSpPr>
        <p:spPr>
          <a:xfrm>
            <a:off x="5250656" y="3601510"/>
            <a:ext cx="21419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00FF00"/>
                </a:solidFill>
              </a:rPr>
              <a:t>df['column'].value_counts()</a:t>
            </a:r>
            <a:endParaRPr lang="en-US" sz="1269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E3DF426-6A97-1492-6E0E-0A21E8807665}"/>
              </a:ext>
            </a:extLst>
          </p:cNvPr>
          <p:cNvGrpSpPr/>
          <p:nvPr/>
        </p:nvGrpSpPr>
        <p:grpSpPr>
          <a:xfrm>
            <a:off x="571500" y="4837596"/>
            <a:ext cx="7667920" cy="112403"/>
            <a:chOff x="571500" y="4793456"/>
            <a:chExt cx="7667920" cy="112403"/>
          </a:xfrm>
        </p:grpSpPr>
        <p:sp>
          <p:nvSpPr>
            <p:cNvPr id="28" name="Text 25"/>
            <p:cNvSpPr/>
            <p:nvPr/>
          </p:nvSpPr>
          <p:spPr>
            <a:xfrm>
              <a:off x="571500" y="4793456"/>
              <a:ext cx="421590" cy="1124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900"/>
                </a:lnSpc>
                <a:buNone/>
              </a:pPr>
              <a:r>
                <a:rPr lang="en-US" sz="727" dirty="0"/>
                <a:t>Module 04</a:t>
              </a:r>
            </a:p>
          </p:txBody>
        </p:sp>
        <p:sp>
          <p:nvSpPr>
            <p:cNvPr id="29" name="Text 26"/>
            <p:cNvSpPr/>
            <p:nvPr/>
          </p:nvSpPr>
          <p:spPr>
            <a:xfrm>
              <a:off x="6144295" y="4793456"/>
              <a:ext cx="2095125" cy="1124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900"/>
                </a:lnSpc>
                <a:buNone/>
              </a:pPr>
              <a:r>
                <a:rPr lang="en-US" sz="727" dirty="0"/>
                <a:t>Working with Data &amp; EDA (2026 Edition) • Classic ML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428625"/>
            <a:ext cx="5174493" cy="4671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FF00FF"/>
                </a:solidFill>
              </a:rPr>
              <a:t>Step 3: Missing Values Analysis</a:t>
            </a:r>
            <a:endParaRPr lang="en-US" sz="2862" dirty="0">
              <a:solidFill>
                <a:srgbClr val="FF00FF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814388" y="1187648"/>
            <a:ext cx="2224776" cy="2721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/>
              <a:t>1. Quantify the Problem</a:t>
            </a:r>
          </a:p>
        </p:txBody>
      </p:sp>
      <p:sp>
        <p:nvSpPr>
          <p:cNvPr id="5" name="Text 2"/>
          <p:cNvSpPr/>
          <p:nvPr/>
        </p:nvSpPr>
        <p:spPr>
          <a:xfrm>
            <a:off x="814388" y="1571625"/>
            <a:ext cx="83356" cy="2412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77" dirty="0"/>
              <a:t>•</a:t>
            </a:r>
          </a:p>
        </p:txBody>
      </p:sp>
      <p:sp>
        <p:nvSpPr>
          <p:cNvPr id="6" name="Text 3"/>
          <p:cNvSpPr/>
          <p:nvPr/>
        </p:nvSpPr>
        <p:spPr>
          <a:xfrm>
            <a:off x="992981" y="1575197"/>
            <a:ext cx="3786229" cy="2412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77" dirty="0"/>
              <a:t>How much data is missing? (Count vs Percentage)</a:t>
            </a:r>
          </a:p>
        </p:txBody>
      </p:sp>
      <p:sp>
        <p:nvSpPr>
          <p:cNvPr id="7" name="Text 4"/>
          <p:cNvSpPr/>
          <p:nvPr/>
        </p:nvSpPr>
        <p:spPr>
          <a:xfrm>
            <a:off x="814388" y="1874509"/>
            <a:ext cx="83356" cy="2412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77" dirty="0"/>
              <a:t>•</a:t>
            </a:r>
          </a:p>
        </p:txBody>
      </p:sp>
      <p:sp>
        <p:nvSpPr>
          <p:cNvPr id="8" name="Text 5"/>
          <p:cNvSpPr/>
          <p:nvPr/>
        </p:nvSpPr>
        <p:spPr>
          <a:xfrm>
            <a:off x="992981" y="1878081"/>
            <a:ext cx="1117742" cy="2412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77" dirty="0"/>
              <a:t>Pandas check:</a:t>
            </a:r>
          </a:p>
        </p:txBody>
      </p:sp>
      <p:sp>
        <p:nvSpPr>
          <p:cNvPr id="9" name="Shape 6"/>
          <p:cNvSpPr/>
          <p:nvPr/>
        </p:nvSpPr>
        <p:spPr>
          <a:xfrm>
            <a:off x="2234292" y="1883439"/>
            <a:ext cx="1223535" cy="255389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234292" y="1883439"/>
            <a:ext cx="1223535" cy="255389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36" dirty="0">
                <a:solidFill>
                  <a:srgbClr val="00FF00"/>
                </a:solidFill>
              </a:rPr>
              <a:t>df.isnull().sum()</a:t>
            </a:r>
            <a:endParaRPr lang="en-US" sz="1236" dirty="0"/>
          </a:p>
        </p:txBody>
      </p:sp>
      <p:sp>
        <p:nvSpPr>
          <p:cNvPr id="11" name="Text 8"/>
          <p:cNvSpPr/>
          <p:nvPr/>
        </p:nvSpPr>
        <p:spPr>
          <a:xfrm>
            <a:off x="814388" y="2177393"/>
            <a:ext cx="83356" cy="2412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77" dirty="0"/>
              <a:t>•</a:t>
            </a:r>
          </a:p>
        </p:txBody>
      </p:sp>
      <p:sp>
        <p:nvSpPr>
          <p:cNvPr id="12" name="Text 9"/>
          <p:cNvSpPr/>
          <p:nvPr/>
        </p:nvSpPr>
        <p:spPr>
          <a:xfrm>
            <a:off x="992981" y="2180965"/>
            <a:ext cx="3114122" cy="2412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77" dirty="0"/>
              <a:t>Visual check: Heatmap of missing values</a:t>
            </a:r>
          </a:p>
        </p:txBody>
      </p:sp>
      <p:sp>
        <p:nvSpPr>
          <p:cNvPr id="13" name="Text 10"/>
          <p:cNvSpPr/>
          <p:nvPr/>
        </p:nvSpPr>
        <p:spPr>
          <a:xfrm>
            <a:off x="814388" y="2623152"/>
            <a:ext cx="1784848" cy="2721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/>
              <a:t>2. Analyze Patterns</a:t>
            </a:r>
          </a:p>
        </p:txBody>
      </p:sp>
      <p:sp>
        <p:nvSpPr>
          <p:cNvPr id="14" name="Text 11"/>
          <p:cNvSpPr/>
          <p:nvPr/>
        </p:nvSpPr>
        <p:spPr>
          <a:xfrm>
            <a:off x="814388" y="3007128"/>
            <a:ext cx="83356" cy="2412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77" dirty="0"/>
              <a:t>•</a:t>
            </a:r>
          </a:p>
        </p:txBody>
      </p:sp>
      <p:sp>
        <p:nvSpPr>
          <p:cNvPr id="15" name="Text 12"/>
          <p:cNvSpPr/>
          <p:nvPr/>
        </p:nvSpPr>
        <p:spPr>
          <a:xfrm>
            <a:off x="992981" y="3010700"/>
            <a:ext cx="733278" cy="2412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77" dirty="0"/>
              <a:t>Random?</a:t>
            </a:r>
          </a:p>
        </p:txBody>
      </p:sp>
      <p:sp>
        <p:nvSpPr>
          <p:cNvPr id="16" name="Text 13"/>
          <p:cNvSpPr/>
          <p:nvPr/>
        </p:nvSpPr>
        <p:spPr>
          <a:xfrm>
            <a:off x="1808373" y="3010700"/>
            <a:ext cx="4163127" cy="2412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77" dirty="0"/>
              <a:t>(MCAR: Missing Completely at Random) - Safe to drop?</a:t>
            </a:r>
          </a:p>
        </p:txBody>
      </p:sp>
      <p:sp>
        <p:nvSpPr>
          <p:cNvPr id="17" name="Text 14"/>
          <p:cNvSpPr/>
          <p:nvPr/>
        </p:nvSpPr>
        <p:spPr>
          <a:xfrm>
            <a:off x="814388" y="3310012"/>
            <a:ext cx="83356" cy="2412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77" dirty="0"/>
              <a:t>•</a:t>
            </a:r>
          </a:p>
        </p:txBody>
      </p:sp>
      <p:sp>
        <p:nvSpPr>
          <p:cNvPr id="18" name="Text 15"/>
          <p:cNvSpPr/>
          <p:nvPr/>
        </p:nvSpPr>
        <p:spPr>
          <a:xfrm>
            <a:off x="992981" y="3313584"/>
            <a:ext cx="938590" cy="2412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77" dirty="0"/>
              <a:t>Systematic?</a:t>
            </a:r>
          </a:p>
        </p:txBody>
      </p:sp>
      <p:sp>
        <p:nvSpPr>
          <p:cNvPr id="19" name="Text 16"/>
          <p:cNvSpPr/>
          <p:nvPr/>
        </p:nvSpPr>
        <p:spPr>
          <a:xfrm>
            <a:off x="2013059" y="3313584"/>
            <a:ext cx="5693803" cy="2412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77" dirty="0"/>
              <a:t>(MNAR: Missing Not at Random) - e.g., High income users skip "Salary" field</a:t>
            </a:r>
          </a:p>
        </p:txBody>
      </p:sp>
      <p:sp>
        <p:nvSpPr>
          <p:cNvPr id="20" name="Text 17"/>
          <p:cNvSpPr/>
          <p:nvPr/>
        </p:nvSpPr>
        <p:spPr>
          <a:xfrm>
            <a:off x="814388" y="3612896"/>
            <a:ext cx="83356" cy="2412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77" dirty="0"/>
              <a:t>•</a:t>
            </a:r>
          </a:p>
        </p:txBody>
      </p:sp>
      <p:sp>
        <p:nvSpPr>
          <p:cNvPr id="21" name="Text 18"/>
          <p:cNvSpPr/>
          <p:nvPr/>
        </p:nvSpPr>
        <p:spPr>
          <a:xfrm>
            <a:off x="992981" y="3616468"/>
            <a:ext cx="940963" cy="2412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77" dirty="0"/>
              <a:t>Dependent?</a:t>
            </a:r>
          </a:p>
        </p:txBody>
      </p:sp>
      <p:sp>
        <p:nvSpPr>
          <p:cNvPr id="22" name="Text 19"/>
          <p:cNvSpPr/>
          <p:nvPr/>
        </p:nvSpPr>
        <p:spPr>
          <a:xfrm>
            <a:off x="2048554" y="3616468"/>
            <a:ext cx="5569986" cy="2412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77" dirty="0"/>
              <a:t>(MAR: Missing At Random) - Missingness depends on other observed data</a:t>
            </a:r>
          </a:p>
        </p:txBody>
      </p:sp>
      <p:sp>
        <p:nvSpPr>
          <p:cNvPr id="23" name="Text 20"/>
          <p:cNvSpPr/>
          <p:nvPr/>
        </p:nvSpPr>
        <p:spPr>
          <a:xfrm>
            <a:off x="814388" y="3824370"/>
            <a:ext cx="775811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FFFFFF"/>
                </a:solidFill>
              </a:rPr>
              <a:t>3. Make a Decision</a:t>
            </a:r>
            <a:endParaRPr lang="en-US" sz="1704" dirty="0"/>
          </a:p>
        </p:txBody>
      </p:sp>
      <p:sp>
        <p:nvSpPr>
          <p:cNvPr id="24" name="Shape 21"/>
          <p:cNvSpPr/>
          <p:nvPr/>
        </p:nvSpPr>
        <p:spPr>
          <a:xfrm>
            <a:off x="814388" y="4167422"/>
            <a:ext cx="940938" cy="391120"/>
          </a:xfrm>
          <a:prstGeom prst="rect">
            <a:avLst/>
          </a:prstGeom>
          <a:solidFill>
            <a:srgbClr val="111111"/>
          </a:solidFill>
          <a:ln w="9144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814388" y="4167422"/>
            <a:ext cx="940938" cy="391120"/>
          </a:xfrm>
          <a:prstGeom prst="rect">
            <a:avLst/>
          </a:prstGeom>
          <a:noFill/>
          <a:ln/>
        </p:spPr>
        <p:txBody>
          <a:bodyPr wrap="square" lIns="255143" tIns="85090" rIns="255143" bIns="8509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kern="0" spc="1" dirty="0">
                <a:solidFill>
                  <a:srgbClr val="FF9999"/>
                </a:solidFill>
              </a:rPr>
              <a:t>Drop</a:t>
            </a:r>
            <a:endParaRPr lang="en-US" sz="1269" dirty="0"/>
          </a:p>
        </p:txBody>
      </p:sp>
      <p:sp>
        <p:nvSpPr>
          <p:cNvPr id="26" name="Text 23"/>
          <p:cNvSpPr/>
          <p:nvPr/>
        </p:nvSpPr>
        <p:spPr>
          <a:xfrm>
            <a:off x="1883913" y="4217428"/>
            <a:ext cx="300707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95" dirty="0">
                <a:solidFill>
                  <a:srgbClr val="FF00FF"/>
                </a:solidFill>
              </a:rPr>
              <a:t>OR</a:t>
            </a:r>
            <a:endParaRPr lang="en-US" sz="1595" dirty="0"/>
          </a:p>
        </p:txBody>
      </p:sp>
      <p:sp>
        <p:nvSpPr>
          <p:cNvPr id="27" name="Shape 24"/>
          <p:cNvSpPr/>
          <p:nvPr/>
        </p:nvSpPr>
        <p:spPr>
          <a:xfrm>
            <a:off x="2327495" y="4167422"/>
            <a:ext cx="1119113" cy="391120"/>
          </a:xfrm>
          <a:prstGeom prst="rect">
            <a:avLst/>
          </a:prstGeom>
          <a:solidFill>
            <a:srgbClr val="111111"/>
          </a:solidFill>
          <a:ln w="9144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2327495" y="4167422"/>
            <a:ext cx="1119113" cy="391120"/>
          </a:xfrm>
          <a:prstGeom prst="rect">
            <a:avLst/>
          </a:prstGeom>
          <a:noFill/>
          <a:ln/>
        </p:spPr>
        <p:txBody>
          <a:bodyPr wrap="square" lIns="255143" tIns="85090" rIns="255143" bIns="8509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kern="0" spc="1" dirty="0">
                <a:solidFill>
                  <a:srgbClr val="E0FFFF"/>
                </a:solidFill>
              </a:rPr>
              <a:t>Impute</a:t>
            </a:r>
            <a:endParaRPr lang="en-US" sz="1269" dirty="0"/>
          </a:p>
        </p:txBody>
      </p:sp>
      <p:sp>
        <p:nvSpPr>
          <p:cNvPr id="29" name="Text 26"/>
          <p:cNvSpPr/>
          <p:nvPr/>
        </p:nvSpPr>
        <p:spPr>
          <a:xfrm>
            <a:off x="3575196" y="4217428"/>
            <a:ext cx="300707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95" dirty="0">
                <a:solidFill>
                  <a:srgbClr val="FF00FF"/>
                </a:solidFill>
              </a:rPr>
              <a:t>OR</a:t>
            </a:r>
            <a:endParaRPr lang="en-US" sz="1595" dirty="0"/>
          </a:p>
        </p:txBody>
      </p:sp>
      <p:sp>
        <p:nvSpPr>
          <p:cNvPr id="30" name="Shape 27"/>
          <p:cNvSpPr/>
          <p:nvPr/>
        </p:nvSpPr>
        <p:spPr>
          <a:xfrm>
            <a:off x="4018778" y="4167422"/>
            <a:ext cx="881276" cy="391120"/>
          </a:xfrm>
          <a:prstGeom prst="rect">
            <a:avLst/>
          </a:prstGeom>
          <a:solidFill>
            <a:srgbClr val="111111"/>
          </a:solidFill>
          <a:ln w="9144">
            <a:solidFill>
              <a:srgbClr val="FF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4018778" y="4167422"/>
            <a:ext cx="881276" cy="391120"/>
          </a:xfrm>
          <a:prstGeom prst="rect">
            <a:avLst/>
          </a:prstGeom>
          <a:noFill/>
          <a:ln/>
        </p:spPr>
        <p:txBody>
          <a:bodyPr wrap="square" lIns="255143" tIns="85090" rIns="255143" bIns="8509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kern="0" spc="1" dirty="0">
                <a:solidFill>
                  <a:srgbClr val="FFCCFF"/>
                </a:solidFill>
              </a:rPr>
              <a:t>Flag</a:t>
            </a:r>
            <a:endParaRPr lang="en-US" sz="1269" dirty="0"/>
          </a:p>
        </p:txBody>
      </p:sp>
      <p:sp>
        <p:nvSpPr>
          <p:cNvPr id="34" name="Text 31"/>
          <p:cNvSpPr/>
          <p:nvPr/>
        </p:nvSpPr>
        <p:spPr>
          <a:xfrm>
            <a:off x="571500" y="4898045"/>
            <a:ext cx="4971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Module 04</a:t>
            </a:r>
            <a:endParaRPr lang="en-US" sz="727" dirty="0"/>
          </a:p>
        </p:txBody>
      </p:sp>
      <p:sp>
        <p:nvSpPr>
          <p:cNvPr id="35" name="Text 32"/>
          <p:cNvSpPr/>
          <p:nvPr/>
        </p:nvSpPr>
        <p:spPr>
          <a:xfrm>
            <a:off x="6144295" y="4898045"/>
            <a:ext cx="2095125" cy="112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/>
              <a:t>Working with Data &amp; EDA (2026 Edition) • Classic ML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428625"/>
            <a:ext cx="4055149" cy="4671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FF00FF"/>
                </a:solidFill>
              </a:rPr>
              <a:t>Handling Missing Values</a:t>
            </a:r>
            <a:endParaRPr lang="en-US" sz="2862" dirty="0">
              <a:solidFill>
                <a:srgbClr val="FF00FF"/>
              </a:solidFill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0" y="961922"/>
            <a:ext cx="2476509" cy="3177797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71500" y="961922"/>
            <a:ext cx="2476509" cy="42863"/>
          </a:xfrm>
          <a:prstGeom prst="rect">
            <a:avLst/>
          </a:prstGeom>
          <a:solidFill>
            <a:srgbClr val="FF0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85813" y="1176235"/>
            <a:ext cx="2047884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F00FF"/>
                </a:solidFill>
              </a:rPr>
              <a:t>Drop</a:t>
            </a:r>
            <a:endParaRPr lang="en-US" sz="1808" dirty="0"/>
          </a:p>
        </p:txBody>
      </p:sp>
      <p:sp>
        <p:nvSpPr>
          <p:cNvPr id="7" name="Text 4"/>
          <p:cNvSpPr/>
          <p:nvPr/>
        </p:nvSpPr>
        <p:spPr>
          <a:xfrm>
            <a:off x="785813" y="1669154"/>
            <a:ext cx="2047884" cy="273248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888888"/>
                </a:solidFill>
              </a:rPr>
              <a:t>If &lt; 5% missing &amp; random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85813" y="2120996"/>
            <a:ext cx="64461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00FFFF"/>
                </a:solidFill>
              </a:rPr>
              <a:t>•</a:t>
            </a:r>
            <a:endParaRPr lang="en-US" sz="1269" dirty="0"/>
          </a:p>
        </p:txBody>
      </p:sp>
      <p:sp>
        <p:nvSpPr>
          <p:cNvPr id="9" name="Text 6"/>
          <p:cNvSpPr/>
          <p:nvPr/>
        </p:nvSpPr>
        <p:spPr>
          <a:xfrm>
            <a:off x="964406" y="2122782"/>
            <a:ext cx="1776059" cy="473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DDDDDD"/>
                </a:solidFill>
              </a:rPr>
              <a:t>Remove rows (if data is ample)</a:t>
            </a:r>
            <a:endParaRPr lang="en-US" sz="1269" dirty="0"/>
          </a:p>
        </p:txBody>
      </p:sp>
      <p:sp>
        <p:nvSpPr>
          <p:cNvPr id="10" name="Text 7"/>
          <p:cNvSpPr/>
          <p:nvPr/>
        </p:nvSpPr>
        <p:spPr>
          <a:xfrm>
            <a:off x="785813" y="2708179"/>
            <a:ext cx="64461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00FFFF"/>
                </a:solidFill>
              </a:rPr>
              <a:t>•</a:t>
            </a:r>
            <a:endParaRPr lang="en-US" sz="1269" dirty="0"/>
          </a:p>
        </p:txBody>
      </p:sp>
      <p:sp>
        <p:nvSpPr>
          <p:cNvPr id="11" name="Text 8"/>
          <p:cNvSpPr/>
          <p:nvPr/>
        </p:nvSpPr>
        <p:spPr>
          <a:xfrm>
            <a:off x="964406" y="2709965"/>
            <a:ext cx="1656569" cy="473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DDDDDD"/>
                </a:solidFill>
              </a:rPr>
              <a:t>Remove columns (if &gt; 50% missing)</a:t>
            </a:r>
            <a:endParaRPr lang="en-US" sz="1269" dirty="0"/>
          </a:p>
        </p:txBody>
      </p:sp>
      <p:sp>
        <p:nvSpPr>
          <p:cNvPr id="12" name="Text 9"/>
          <p:cNvSpPr/>
          <p:nvPr/>
        </p:nvSpPr>
        <p:spPr>
          <a:xfrm>
            <a:off x="785813" y="3295361"/>
            <a:ext cx="64461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00FFFF"/>
                </a:solidFill>
              </a:rPr>
              <a:t>•</a:t>
            </a:r>
            <a:endParaRPr lang="en-US" sz="1269" dirty="0"/>
          </a:p>
        </p:txBody>
      </p:sp>
      <p:sp>
        <p:nvSpPr>
          <p:cNvPr id="13" name="Text 10"/>
          <p:cNvSpPr/>
          <p:nvPr/>
        </p:nvSpPr>
        <p:spPr>
          <a:xfrm>
            <a:off x="964406" y="3297147"/>
            <a:ext cx="166563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DDDDDD"/>
                </a:solidFill>
              </a:rPr>
              <a:t>Risk: lose information</a:t>
            </a:r>
            <a:endParaRPr lang="en-US" sz="1269" dirty="0"/>
          </a:p>
        </p:txBody>
      </p:sp>
      <p:sp>
        <p:nvSpPr>
          <p:cNvPr id="14" name="Shape 11"/>
          <p:cNvSpPr/>
          <p:nvPr/>
        </p:nvSpPr>
        <p:spPr>
          <a:xfrm>
            <a:off x="3333759" y="961922"/>
            <a:ext cx="2476509" cy="3177797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333759" y="961922"/>
            <a:ext cx="2476509" cy="42863"/>
          </a:xfrm>
          <a:prstGeom prst="rect">
            <a:avLst/>
          </a:prstGeom>
          <a:solidFill>
            <a:srgbClr val="FF0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548072" y="1176235"/>
            <a:ext cx="2047884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F00FF"/>
                </a:solidFill>
              </a:rPr>
              <a:t>Impute</a:t>
            </a:r>
            <a:endParaRPr lang="en-US" sz="1808" dirty="0"/>
          </a:p>
        </p:txBody>
      </p:sp>
      <p:sp>
        <p:nvSpPr>
          <p:cNvPr id="17" name="Text 14"/>
          <p:cNvSpPr/>
          <p:nvPr/>
        </p:nvSpPr>
        <p:spPr>
          <a:xfrm>
            <a:off x="3548072" y="1669154"/>
            <a:ext cx="2047884" cy="273248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888888"/>
                </a:solidFill>
              </a:rPr>
              <a:t>Fill in the gaps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548072" y="2120996"/>
            <a:ext cx="64461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00FFFF"/>
                </a:solidFill>
              </a:rPr>
              <a:t>•</a:t>
            </a:r>
            <a:endParaRPr lang="en-US" sz="1269" dirty="0"/>
          </a:p>
        </p:txBody>
      </p:sp>
      <p:sp>
        <p:nvSpPr>
          <p:cNvPr id="19" name="Text 16"/>
          <p:cNvSpPr/>
          <p:nvPr/>
        </p:nvSpPr>
        <p:spPr>
          <a:xfrm>
            <a:off x="3726666" y="2122782"/>
            <a:ext cx="87697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DDDDDD"/>
                </a:solidFill>
              </a:rPr>
              <a:t>Numerical:</a:t>
            </a:r>
            <a:endParaRPr lang="en-US" sz="1269" dirty="0"/>
          </a:p>
        </p:txBody>
      </p:sp>
      <p:sp>
        <p:nvSpPr>
          <p:cNvPr id="20" name="Text 17"/>
          <p:cNvSpPr/>
          <p:nvPr/>
        </p:nvSpPr>
        <p:spPr>
          <a:xfrm>
            <a:off x="3747510" y="2352973"/>
            <a:ext cx="1296829" cy="227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DDDDDD"/>
                </a:solidFill>
              </a:rPr>
              <a:t>Mean or Median</a:t>
            </a:r>
            <a:endParaRPr lang="en-US" sz="1269" dirty="0"/>
          </a:p>
        </p:txBody>
      </p:sp>
      <p:sp>
        <p:nvSpPr>
          <p:cNvPr id="21" name="Text 18"/>
          <p:cNvSpPr/>
          <p:nvPr/>
        </p:nvSpPr>
        <p:spPr>
          <a:xfrm>
            <a:off x="3548072" y="2708179"/>
            <a:ext cx="64461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00FFFF"/>
                </a:solidFill>
              </a:rPr>
              <a:t>•</a:t>
            </a:r>
            <a:endParaRPr lang="en-US" sz="1269" dirty="0"/>
          </a:p>
        </p:txBody>
      </p:sp>
      <p:sp>
        <p:nvSpPr>
          <p:cNvPr id="22" name="Text 19"/>
          <p:cNvSpPr/>
          <p:nvPr/>
        </p:nvSpPr>
        <p:spPr>
          <a:xfrm>
            <a:off x="3726666" y="2709965"/>
            <a:ext cx="95600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DDDDDD"/>
                </a:solidFill>
              </a:rPr>
              <a:t>Categorical:</a:t>
            </a:r>
            <a:endParaRPr lang="en-US" sz="1269" dirty="0"/>
          </a:p>
        </p:txBody>
      </p:sp>
      <p:sp>
        <p:nvSpPr>
          <p:cNvPr id="23" name="Text 20"/>
          <p:cNvSpPr/>
          <p:nvPr/>
        </p:nvSpPr>
        <p:spPr>
          <a:xfrm>
            <a:off x="4682672" y="2709965"/>
            <a:ext cx="49258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DDDDDD"/>
                </a:solidFill>
              </a:rPr>
              <a:t>Mode</a:t>
            </a:r>
            <a:endParaRPr lang="en-US" sz="1269" dirty="0"/>
          </a:p>
        </p:txBody>
      </p:sp>
      <p:sp>
        <p:nvSpPr>
          <p:cNvPr id="24" name="Text 21"/>
          <p:cNvSpPr/>
          <p:nvPr/>
        </p:nvSpPr>
        <p:spPr>
          <a:xfrm>
            <a:off x="3548072" y="3055348"/>
            <a:ext cx="64461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00FFFF"/>
                </a:solidFill>
              </a:rPr>
              <a:t>•</a:t>
            </a:r>
            <a:endParaRPr lang="en-US" sz="1269" dirty="0"/>
          </a:p>
        </p:txBody>
      </p:sp>
      <p:sp>
        <p:nvSpPr>
          <p:cNvPr id="25" name="Text 22"/>
          <p:cNvSpPr/>
          <p:nvPr/>
        </p:nvSpPr>
        <p:spPr>
          <a:xfrm>
            <a:off x="3726666" y="3057134"/>
            <a:ext cx="95980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DDDDDD"/>
                </a:solidFill>
              </a:rPr>
              <a:t>Time series:</a:t>
            </a:r>
            <a:endParaRPr lang="en-US" sz="1269" dirty="0"/>
          </a:p>
        </p:txBody>
      </p:sp>
      <p:sp>
        <p:nvSpPr>
          <p:cNvPr id="26" name="Text 23"/>
          <p:cNvSpPr/>
          <p:nvPr/>
        </p:nvSpPr>
        <p:spPr>
          <a:xfrm>
            <a:off x="3726666" y="3057134"/>
            <a:ext cx="1706659" cy="473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DDDDDD"/>
                </a:solidFill>
              </a:rPr>
              <a:t>fwd/back fill</a:t>
            </a:r>
            <a:endParaRPr lang="en-US" sz="1269" dirty="0"/>
          </a:p>
        </p:txBody>
      </p:sp>
      <p:sp>
        <p:nvSpPr>
          <p:cNvPr id="27" name="Shape 24"/>
          <p:cNvSpPr/>
          <p:nvPr/>
        </p:nvSpPr>
        <p:spPr>
          <a:xfrm>
            <a:off x="6096019" y="961922"/>
            <a:ext cx="2476509" cy="3177797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6096019" y="961922"/>
            <a:ext cx="2476509" cy="42863"/>
          </a:xfrm>
          <a:prstGeom prst="rect">
            <a:avLst/>
          </a:prstGeom>
          <a:solidFill>
            <a:srgbClr val="FF0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310331" y="1176235"/>
            <a:ext cx="2047884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F00FF"/>
                </a:solidFill>
              </a:rPr>
              <a:t>Flag</a:t>
            </a:r>
            <a:endParaRPr lang="en-US" sz="1808" dirty="0"/>
          </a:p>
        </p:txBody>
      </p:sp>
      <p:sp>
        <p:nvSpPr>
          <p:cNvPr id="30" name="Text 27"/>
          <p:cNvSpPr/>
          <p:nvPr/>
        </p:nvSpPr>
        <p:spPr>
          <a:xfrm>
            <a:off x="6310331" y="1669154"/>
            <a:ext cx="2047884" cy="273248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888888"/>
                </a:solidFill>
              </a:rPr>
              <a:t>Create indicator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6310331" y="2120996"/>
            <a:ext cx="64461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00FFFF"/>
                </a:solidFill>
              </a:rPr>
              <a:t>•</a:t>
            </a:r>
            <a:endParaRPr lang="en-US" sz="1269" dirty="0"/>
          </a:p>
        </p:txBody>
      </p:sp>
      <p:sp>
        <p:nvSpPr>
          <p:cNvPr id="32" name="Text 29"/>
          <p:cNvSpPr/>
          <p:nvPr/>
        </p:nvSpPr>
        <p:spPr>
          <a:xfrm>
            <a:off x="6488925" y="2122782"/>
            <a:ext cx="1093859" cy="473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DDDDDD"/>
                </a:solidFill>
              </a:rPr>
              <a:t>Add column: "was_missing"</a:t>
            </a:r>
            <a:endParaRPr lang="en-US" sz="1269" dirty="0"/>
          </a:p>
        </p:txBody>
      </p:sp>
      <p:sp>
        <p:nvSpPr>
          <p:cNvPr id="33" name="Text 30"/>
          <p:cNvSpPr/>
          <p:nvPr/>
        </p:nvSpPr>
        <p:spPr>
          <a:xfrm>
            <a:off x="6310331" y="2708179"/>
            <a:ext cx="64461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00FFFF"/>
                </a:solidFill>
              </a:rPr>
              <a:t>•</a:t>
            </a:r>
            <a:endParaRPr lang="en-US" sz="1269" dirty="0"/>
          </a:p>
        </p:txBody>
      </p:sp>
      <p:sp>
        <p:nvSpPr>
          <p:cNvPr id="34" name="Text 31"/>
          <p:cNvSpPr/>
          <p:nvPr/>
        </p:nvSpPr>
        <p:spPr>
          <a:xfrm>
            <a:off x="6488925" y="2709965"/>
            <a:ext cx="1678502" cy="473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DDDDDD"/>
                </a:solidFill>
              </a:rPr>
              <a:t>Preserve missingness info</a:t>
            </a:r>
            <a:endParaRPr lang="en-US" sz="1269" dirty="0"/>
          </a:p>
        </p:txBody>
      </p:sp>
      <p:sp>
        <p:nvSpPr>
          <p:cNvPr id="35" name="Text 32"/>
          <p:cNvSpPr/>
          <p:nvPr/>
        </p:nvSpPr>
        <p:spPr>
          <a:xfrm>
            <a:off x="6310331" y="3295361"/>
            <a:ext cx="64461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00FFFF"/>
                </a:solidFill>
              </a:rPr>
              <a:t>•</a:t>
            </a:r>
            <a:endParaRPr lang="en-US" sz="1269" dirty="0"/>
          </a:p>
        </p:txBody>
      </p:sp>
      <p:sp>
        <p:nvSpPr>
          <p:cNvPr id="36" name="Text 33"/>
          <p:cNvSpPr/>
          <p:nvPr/>
        </p:nvSpPr>
        <p:spPr>
          <a:xfrm>
            <a:off x="6488925" y="3297147"/>
            <a:ext cx="1665136" cy="473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DDDDDD"/>
                </a:solidFill>
              </a:rPr>
              <a:t>Model can learn from missingness</a:t>
            </a:r>
            <a:endParaRPr lang="en-US" sz="1269" dirty="0"/>
          </a:p>
        </p:txBody>
      </p:sp>
      <p:sp>
        <p:nvSpPr>
          <p:cNvPr id="37" name="Shape 34"/>
          <p:cNvSpPr/>
          <p:nvPr/>
        </p:nvSpPr>
        <p:spPr>
          <a:xfrm>
            <a:off x="571500" y="4246875"/>
            <a:ext cx="8001000" cy="370777"/>
          </a:xfrm>
          <a:prstGeom prst="rect">
            <a:avLst/>
          </a:prstGeom>
          <a:solidFill>
            <a:srgbClr val="00FF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571500" y="4246876"/>
            <a:ext cx="45719" cy="340026"/>
          </a:xfrm>
          <a:prstGeom prst="rect">
            <a:avLst/>
          </a:prstGeom>
          <a:solidFill>
            <a:srgbClr val="00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657225" y="4301883"/>
            <a:ext cx="7829550" cy="235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/>
              <a:t>Context matters:</a:t>
            </a:r>
            <a:r>
              <a:rPr lang="en-US" sz="1486" dirty="0"/>
              <a:t> Always ask "Why is this data missing?" before choosing a strategy.</a:t>
            </a:r>
            <a:endParaRPr lang="en-US" sz="1397" dirty="0"/>
          </a:p>
        </p:txBody>
      </p:sp>
      <p:sp>
        <p:nvSpPr>
          <p:cNvPr id="40" name="Shape 37"/>
          <p:cNvSpPr/>
          <p:nvPr/>
        </p:nvSpPr>
        <p:spPr>
          <a:xfrm>
            <a:off x="571500" y="4800125"/>
            <a:ext cx="8001000" cy="21431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571500" y="4878707"/>
            <a:ext cx="421590" cy="112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/>
              <a:t>Module 04</a:t>
            </a:r>
          </a:p>
        </p:txBody>
      </p:sp>
      <p:sp>
        <p:nvSpPr>
          <p:cNvPr id="43" name="Text 40"/>
          <p:cNvSpPr/>
          <p:nvPr/>
        </p:nvSpPr>
        <p:spPr>
          <a:xfrm>
            <a:off x="6144295" y="4878707"/>
            <a:ext cx="2095125" cy="112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/>
              <a:t>Working with Data &amp; EDA (2026 Edition) • Classic ML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428625"/>
            <a:ext cx="4106509" cy="4671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FF00FF"/>
                </a:solidFill>
              </a:rPr>
              <a:t>Step 4: Outlier Detection</a:t>
            </a:r>
            <a:endParaRPr lang="en-US" sz="2862" dirty="0">
              <a:solidFill>
                <a:srgbClr val="FF00FF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1273373"/>
            <a:ext cx="85976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4" dirty="0">
                <a:solidFill>
                  <a:srgbClr val="FF00FF"/>
                </a:solidFill>
              </a:rPr>
              <a:t>•</a:t>
            </a:r>
            <a:endParaRPr lang="en-US" sz="1704" dirty="0"/>
          </a:p>
        </p:txBody>
      </p:sp>
      <p:sp>
        <p:nvSpPr>
          <p:cNvPr id="5" name="Text 2"/>
          <p:cNvSpPr/>
          <p:nvPr/>
        </p:nvSpPr>
        <p:spPr>
          <a:xfrm>
            <a:off x="857250" y="1276945"/>
            <a:ext cx="3817455" cy="300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4" dirty="0"/>
              <a:t>Outliers = extreme values far from others</a:t>
            </a:r>
          </a:p>
        </p:txBody>
      </p:sp>
      <p:sp>
        <p:nvSpPr>
          <p:cNvPr id="6" name="Text 3"/>
          <p:cNvSpPr/>
          <p:nvPr/>
        </p:nvSpPr>
        <p:spPr>
          <a:xfrm>
            <a:off x="571500" y="1771985"/>
            <a:ext cx="85976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4" dirty="0">
                <a:solidFill>
                  <a:srgbClr val="FF00FF"/>
                </a:solidFill>
              </a:rPr>
              <a:t>•</a:t>
            </a:r>
            <a:endParaRPr lang="en-US" sz="1704" dirty="0"/>
          </a:p>
        </p:txBody>
      </p:sp>
      <p:sp>
        <p:nvSpPr>
          <p:cNvPr id="7" name="Text 4"/>
          <p:cNvSpPr/>
          <p:nvPr/>
        </p:nvSpPr>
        <p:spPr>
          <a:xfrm>
            <a:off x="857250" y="1775557"/>
            <a:ext cx="1877630" cy="300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4" dirty="0"/>
              <a:t>Detection methods:</a:t>
            </a:r>
          </a:p>
        </p:txBody>
      </p:sp>
      <p:sp>
        <p:nvSpPr>
          <p:cNvPr id="8" name="Text 5"/>
          <p:cNvSpPr/>
          <p:nvPr/>
        </p:nvSpPr>
        <p:spPr>
          <a:xfrm>
            <a:off x="857250" y="2163440"/>
            <a:ext cx="92869" cy="25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77" dirty="0">
                <a:solidFill>
                  <a:srgbClr val="00FFFF"/>
                </a:solidFill>
              </a:rPr>
              <a:t>–</a:t>
            </a:r>
            <a:endParaRPr lang="en-US" sz="1377" dirty="0"/>
          </a:p>
        </p:txBody>
      </p:sp>
      <p:sp>
        <p:nvSpPr>
          <p:cNvPr id="9" name="Text 6"/>
          <p:cNvSpPr/>
          <p:nvPr/>
        </p:nvSpPr>
        <p:spPr>
          <a:xfrm>
            <a:off x="1143000" y="2167012"/>
            <a:ext cx="520976" cy="2412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77" dirty="0"/>
              <a:t>Visual:</a:t>
            </a:r>
          </a:p>
        </p:txBody>
      </p:sp>
      <p:sp>
        <p:nvSpPr>
          <p:cNvPr id="10" name="Text 7"/>
          <p:cNvSpPr/>
          <p:nvPr/>
        </p:nvSpPr>
        <p:spPr>
          <a:xfrm>
            <a:off x="1708026" y="2167012"/>
            <a:ext cx="1738809" cy="2412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77" dirty="0"/>
              <a:t>box plots, scatter plots</a:t>
            </a:r>
          </a:p>
        </p:txBody>
      </p:sp>
      <p:sp>
        <p:nvSpPr>
          <p:cNvPr id="11" name="Text 8"/>
          <p:cNvSpPr/>
          <p:nvPr/>
        </p:nvSpPr>
        <p:spPr>
          <a:xfrm>
            <a:off x="857250" y="2530618"/>
            <a:ext cx="92869" cy="25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77" dirty="0">
                <a:solidFill>
                  <a:srgbClr val="00FFFF"/>
                </a:solidFill>
              </a:rPr>
              <a:t>–</a:t>
            </a:r>
            <a:endParaRPr lang="en-US" sz="1377" dirty="0"/>
          </a:p>
        </p:txBody>
      </p:sp>
      <p:sp>
        <p:nvSpPr>
          <p:cNvPr id="12" name="Text 9"/>
          <p:cNvSpPr/>
          <p:nvPr/>
        </p:nvSpPr>
        <p:spPr>
          <a:xfrm>
            <a:off x="1143000" y="2534190"/>
            <a:ext cx="816442" cy="2412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77" dirty="0"/>
              <a:t>Statistical:</a:t>
            </a:r>
          </a:p>
        </p:txBody>
      </p:sp>
      <p:sp>
        <p:nvSpPr>
          <p:cNvPr id="13" name="Text 10"/>
          <p:cNvSpPr/>
          <p:nvPr/>
        </p:nvSpPr>
        <p:spPr>
          <a:xfrm>
            <a:off x="2026202" y="2534190"/>
            <a:ext cx="1608069" cy="2412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77" dirty="0"/>
              <a:t>Z-score (&gt; 3 std devs)</a:t>
            </a:r>
          </a:p>
        </p:txBody>
      </p:sp>
      <p:sp>
        <p:nvSpPr>
          <p:cNvPr id="14" name="Text 11"/>
          <p:cNvSpPr/>
          <p:nvPr/>
        </p:nvSpPr>
        <p:spPr>
          <a:xfrm>
            <a:off x="857250" y="2897795"/>
            <a:ext cx="92869" cy="25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77" dirty="0">
                <a:solidFill>
                  <a:srgbClr val="00FFFF"/>
                </a:solidFill>
              </a:rPr>
              <a:t>–</a:t>
            </a:r>
            <a:endParaRPr lang="en-US" sz="1377" dirty="0"/>
          </a:p>
        </p:txBody>
      </p:sp>
      <p:sp>
        <p:nvSpPr>
          <p:cNvPr id="15" name="Text 12"/>
          <p:cNvSpPr/>
          <p:nvPr/>
        </p:nvSpPr>
        <p:spPr>
          <a:xfrm>
            <a:off x="1143000" y="2901367"/>
            <a:ext cx="965008" cy="2412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77" dirty="0"/>
              <a:t>IQR method:</a:t>
            </a:r>
          </a:p>
        </p:txBody>
      </p:sp>
      <p:sp>
        <p:nvSpPr>
          <p:cNvPr id="16" name="Shape 13"/>
          <p:cNvSpPr/>
          <p:nvPr/>
        </p:nvSpPr>
        <p:spPr>
          <a:xfrm>
            <a:off x="2299813" y="2887080"/>
            <a:ext cx="1194736" cy="280392"/>
          </a:xfrm>
          <a:prstGeom prst="rect">
            <a:avLst/>
          </a:prstGeom>
          <a:solidFill>
            <a:srgbClr val="00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2299813" y="2887080"/>
            <a:ext cx="1108893" cy="275653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77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Q1 - 1.5×IQR</a:t>
            </a:r>
          </a:p>
        </p:txBody>
      </p:sp>
      <p:sp>
        <p:nvSpPr>
          <p:cNvPr id="18" name="Text 15"/>
          <p:cNvSpPr/>
          <p:nvPr/>
        </p:nvSpPr>
        <p:spPr>
          <a:xfrm>
            <a:off x="3494549" y="2901367"/>
            <a:ext cx="90274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77" dirty="0">
                <a:solidFill>
                  <a:srgbClr val="CCCCCC"/>
                </a:solidFill>
              </a:rPr>
              <a:t>,</a:t>
            </a:r>
            <a:endParaRPr lang="en-US" sz="1377" dirty="0"/>
          </a:p>
        </p:txBody>
      </p:sp>
      <p:sp>
        <p:nvSpPr>
          <p:cNvPr id="19" name="Shape 16"/>
          <p:cNvSpPr/>
          <p:nvPr/>
        </p:nvSpPr>
        <p:spPr>
          <a:xfrm>
            <a:off x="3584823" y="2887080"/>
            <a:ext cx="1241003" cy="280392"/>
          </a:xfrm>
          <a:prstGeom prst="rect">
            <a:avLst/>
          </a:prstGeom>
          <a:solidFill>
            <a:srgbClr val="00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584823" y="2887080"/>
            <a:ext cx="1144159" cy="275653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77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Q3 + 1.5×IQR</a:t>
            </a:r>
          </a:p>
        </p:txBody>
      </p:sp>
      <p:sp>
        <p:nvSpPr>
          <p:cNvPr id="21" name="Shape 18"/>
          <p:cNvSpPr/>
          <p:nvPr/>
        </p:nvSpPr>
        <p:spPr>
          <a:xfrm>
            <a:off x="571500" y="3341092"/>
            <a:ext cx="8001000" cy="1298377"/>
          </a:xfrm>
          <a:prstGeom prst="rect">
            <a:avLst/>
          </a:prstGeom>
          <a:solidFill>
            <a:srgbClr val="FF00FF">
              <a:alpha val="5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571500" y="3341092"/>
            <a:ext cx="42863" cy="1298377"/>
          </a:xfrm>
          <a:prstGeom prst="rect">
            <a:avLst/>
          </a:prstGeom>
          <a:solidFill>
            <a:srgbClr val="FF0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85800" y="3455392"/>
            <a:ext cx="777240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kern="0" spc="1" dirty="0">
                <a:solidFill>
                  <a:srgbClr val="FF00FF"/>
                </a:solidFill>
              </a:rPr>
              <a:t>Critical Questions to Ask</a:t>
            </a:r>
            <a:endParaRPr lang="en-US" sz="1397" dirty="0"/>
          </a:p>
        </p:txBody>
      </p:sp>
      <p:sp>
        <p:nvSpPr>
          <p:cNvPr id="24" name="Text 21"/>
          <p:cNvSpPr/>
          <p:nvPr/>
        </p:nvSpPr>
        <p:spPr>
          <a:xfrm>
            <a:off x="685800" y="3835796"/>
            <a:ext cx="95436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00FF"/>
                </a:solidFill>
              </a:rPr>
              <a:t>?</a:t>
            </a:r>
            <a:endParaRPr lang="en-US" sz="1397" dirty="0"/>
          </a:p>
        </p:txBody>
      </p:sp>
      <p:sp>
        <p:nvSpPr>
          <p:cNvPr id="25" name="Text 22"/>
          <p:cNvSpPr/>
          <p:nvPr/>
        </p:nvSpPr>
        <p:spPr>
          <a:xfrm>
            <a:off x="900113" y="3835796"/>
            <a:ext cx="3788345" cy="235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 dirty="0"/>
              <a:t>Is this a data error or a genuine extreme value?</a:t>
            </a:r>
          </a:p>
        </p:txBody>
      </p:sp>
      <p:sp>
        <p:nvSpPr>
          <p:cNvPr id="26" name="Text 23"/>
          <p:cNvSpPr/>
          <p:nvPr/>
        </p:nvSpPr>
        <p:spPr>
          <a:xfrm>
            <a:off x="685800" y="4180482"/>
            <a:ext cx="95436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00FF"/>
                </a:solidFill>
              </a:rPr>
              <a:t>?</a:t>
            </a:r>
            <a:endParaRPr lang="en-US" sz="1397" dirty="0"/>
          </a:p>
        </p:txBody>
      </p:sp>
      <p:sp>
        <p:nvSpPr>
          <p:cNvPr id="27" name="Text 24"/>
          <p:cNvSpPr/>
          <p:nvPr/>
        </p:nvSpPr>
        <p:spPr>
          <a:xfrm>
            <a:off x="900113" y="4180482"/>
            <a:ext cx="2650277" cy="235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 dirty="0"/>
              <a:t>Should I keep, cap, or remove it?</a:t>
            </a:r>
          </a:p>
        </p:txBody>
      </p:sp>
      <p:sp>
        <p:nvSpPr>
          <p:cNvPr id="30" name="Text 27"/>
          <p:cNvSpPr/>
          <p:nvPr/>
        </p:nvSpPr>
        <p:spPr>
          <a:xfrm>
            <a:off x="571500" y="4858827"/>
            <a:ext cx="421590" cy="112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/>
              <a:t>Module 04</a:t>
            </a:r>
          </a:p>
        </p:txBody>
      </p:sp>
      <p:sp>
        <p:nvSpPr>
          <p:cNvPr id="31" name="Text 28"/>
          <p:cNvSpPr/>
          <p:nvPr/>
        </p:nvSpPr>
        <p:spPr>
          <a:xfrm>
            <a:off x="6144295" y="4858827"/>
            <a:ext cx="2095125" cy="112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/>
              <a:t>Working with Data &amp; EDA (2026 Edition) • Classic ML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428625"/>
            <a:ext cx="4690451" cy="4671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FF00FF"/>
                </a:solidFill>
              </a:rPr>
              <a:t>Step 5: Distribution Analysis</a:t>
            </a:r>
            <a:endParaRPr lang="en-US" sz="2862" dirty="0">
              <a:solidFill>
                <a:srgbClr val="FF00FF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1330523"/>
            <a:ext cx="102592" cy="300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4" dirty="0">
                <a:solidFill>
                  <a:schemeClr val="accent4"/>
                </a:solidFill>
              </a:rPr>
              <a:t>•</a:t>
            </a:r>
          </a:p>
        </p:txBody>
      </p:sp>
      <p:sp>
        <p:nvSpPr>
          <p:cNvPr id="5" name="Text 2"/>
          <p:cNvSpPr/>
          <p:nvPr/>
        </p:nvSpPr>
        <p:spPr>
          <a:xfrm>
            <a:off x="857250" y="1334095"/>
            <a:ext cx="2977482" cy="300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4" dirty="0"/>
              <a:t>Understand how data is spread:</a:t>
            </a:r>
          </a:p>
        </p:txBody>
      </p:sp>
      <p:sp>
        <p:nvSpPr>
          <p:cNvPr id="6" name="Text 3"/>
          <p:cNvSpPr/>
          <p:nvPr/>
        </p:nvSpPr>
        <p:spPr>
          <a:xfrm>
            <a:off x="857250" y="1721979"/>
            <a:ext cx="92869" cy="25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77" dirty="0">
                <a:solidFill>
                  <a:srgbClr val="FF00FF"/>
                </a:solidFill>
              </a:rPr>
              <a:t>–</a:t>
            </a:r>
            <a:endParaRPr lang="en-US" sz="1377" dirty="0"/>
          </a:p>
        </p:txBody>
      </p:sp>
      <p:sp>
        <p:nvSpPr>
          <p:cNvPr id="7" name="Text 4"/>
          <p:cNvSpPr/>
          <p:nvPr/>
        </p:nvSpPr>
        <p:spPr>
          <a:xfrm>
            <a:off x="1143000" y="1725550"/>
            <a:ext cx="1546257" cy="2412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77" dirty="0"/>
              <a:t>Normal (bell curve)?</a:t>
            </a:r>
          </a:p>
        </p:txBody>
      </p:sp>
      <p:sp>
        <p:nvSpPr>
          <p:cNvPr id="8" name="Text 5"/>
          <p:cNvSpPr/>
          <p:nvPr/>
        </p:nvSpPr>
        <p:spPr>
          <a:xfrm>
            <a:off x="857250" y="2053437"/>
            <a:ext cx="92869" cy="25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77" dirty="0">
                <a:solidFill>
                  <a:srgbClr val="FF00FF"/>
                </a:solidFill>
              </a:rPr>
              <a:t>–</a:t>
            </a:r>
            <a:endParaRPr lang="en-US" sz="1377" dirty="0"/>
          </a:p>
        </p:txBody>
      </p:sp>
      <p:sp>
        <p:nvSpPr>
          <p:cNvPr id="9" name="Text 6"/>
          <p:cNvSpPr/>
          <p:nvPr/>
        </p:nvSpPr>
        <p:spPr>
          <a:xfrm>
            <a:off x="1143000" y="2057009"/>
            <a:ext cx="2274662" cy="2412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77" dirty="0"/>
              <a:t>Skewed (long tail left or right)?</a:t>
            </a:r>
          </a:p>
        </p:txBody>
      </p:sp>
      <p:sp>
        <p:nvSpPr>
          <p:cNvPr id="10" name="Text 7"/>
          <p:cNvSpPr/>
          <p:nvPr/>
        </p:nvSpPr>
        <p:spPr>
          <a:xfrm>
            <a:off x="857250" y="2384896"/>
            <a:ext cx="92869" cy="25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77" dirty="0">
                <a:solidFill>
                  <a:srgbClr val="FF00FF"/>
                </a:solidFill>
              </a:rPr>
              <a:t>–</a:t>
            </a:r>
            <a:endParaRPr lang="en-US" sz="1377" dirty="0"/>
          </a:p>
        </p:txBody>
      </p:sp>
      <p:sp>
        <p:nvSpPr>
          <p:cNvPr id="11" name="Text 8"/>
          <p:cNvSpPr/>
          <p:nvPr/>
        </p:nvSpPr>
        <p:spPr>
          <a:xfrm>
            <a:off x="1143000" y="2388468"/>
            <a:ext cx="2391039" cy="2412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77" dirty="0"/>
              <a:t>Uniform, bimodal, multimodal?</a:t>
            </a:r>
          </a:p>
        </p:txBody>
      </p:sp>
      <p:sp>
        <p:nvSpPr>
          <p:cNvPr id="12" name="Text 9"/>
          <p:cNvSpPr/>
          <p:nvPr/>
        </p:nvSpPr>
        <p:spPr>
          <a:xfrm>
            <a:off x="571500" y="2787793"/>
            <a:ext cx="102592" cy="300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4" dirty="0">
                <a:solidFill>
                  <a:schemeClr val="accent4"/>
                </a:solidFill>
              </a:rPr>
              <a:t>•</a:t>
            </a:r>
          </a:p>
        </p:txBody>
      </p:sp>
      <p:sp>
        <p:nvSpPr>
          <p:cNvPr id="13" name="Text 10"/>
          <p:cNvSpPr/>
          <p:nvPr/>
        </p:nvSpPr>
        <p:spPr>
          <a:xfrm>
            <a:off x="857250" y="2791365"/>
            <a:ext cx="1287084" cy="300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4" dirty="0"/>
              <a:t>Visualize with</a:t>
            </a:r>
          </a:p>
        </p:txBody>
      </p:sp>
      <p:sp>
        <p:nvSpPr>
          <p:cNvPr id="14" name="Text 11"/>
          <p:cNvSpPr/>
          <p:nvPr/>
        </p:nvSpPr>
        <p:spPr>
          <a:xfrm>
            <a:off x="2302464" y="2791365"/>
            <a:ext cx="1047466" cy="300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4" dirty="0"/>
              <a:t>histograms</a:t>
            </a:r>
          </a:p>
        </p:txBody>
      </p:sp>
      <p:sp>
        <p:nvSpPr>
          <p:cNvPr id="15" name="Text 12"/>
          <p:cNvSpPr/>
          <p:nvPr/>
        </p:nvSpPr>
        <p:spPr>
          <a:xfrm>
            <a:off x="3514976" y="2791365"/>
            <a:ext cx="357470" cy="300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4" dirty="0"/>
              <a:t>and</a:t>
            </a:r>
          </a:p>
        </p:txBody>
      </p:sp>
      <p:sp>
        <p:nvSpPr>
          <p:cNvPr id="16" name="Text 13"/>
          <p:cNvSpPr/>
          <p:nvPr/>
        </p:nvSpPr>
        <p:spPr>
          <a:xfrm>
            <a:off x="4029577" y="2791365"/>
            <a:ext cx="1204625" cy="300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4" dirty="0"/>
              <a:t>density plots</a:t>
            </a:r>
          </a:p>
        </p:txBody>
      </p:sp>
      <p:sp>
        <p:nvSpPr>
          <p:cNvPr id="17" name="Shape 14"/>
          <p:cNvSpPr/>
          <p:nvPr/>
        </p:nvSpPr>
        <p:spPr>
          <a:xfrm>
            <a:off x="571500" y="3250685"/>
            <a:ext cx="8001000" cy="1366242"/>
          </a:xfrm>
          <a:prstGeom prst="rect">
            <a:avLst/>
          </a:prstGeom>
          <a:solidFill>
            <a:schemeClr val="accent5">
              <a:lumMod val="75000"/>
              <a:alpha val="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71500" y="3250685"/>
            <a:ext cx="42863" cy="1366242"/>
          </a:xfrm>
          <a:prstGeom prst="rect">
            <a:avLst/>
          </a:prstGeom>
          <a:solidFill>
            <a:srgbClr val="FF0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85813" y="3464998"/>
            <a:ext cx="7572375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kern="0" spc="1" dirty="0">
                <a:solidFill>
                  <a:srgbClr val="FF00FF"/>
                </a:solidFill>
              </a:rPr>
              <a:t>Why It Matters</a:t>
            </a:r>
            <a:endParaRPr lang="en-US" sz="1397" dirty="0"/>
          </a:p>
        </p:txBody>
      </p:sp>
      <p:sp>
        <p:nvSpPr>
          <p:cNvPr id="20" name="Text 17"/>
          <p:cNvSpPr/>
          <p:nvPr/>
        </p:nvSpPr>
        <p:spPr>
          <a:xfrm>
            <a:off x="785813" y="3845402"/>
            <a:ext cx="7572375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77" dirty="0"/>
              <a:t>• Some models assume normality (e.g., Linear Regression)
 • Skewed data may need transformation (Log, Box-Cox) to perform well</a:t>
            </a:r>
          </a:p>
        </p:txBody>
      </p:sp>
      <p:sp>
        <p:nvSpPr>
          <p:cNvPr id="21" name="Shape 18"/>
          <p:cNvSpPr/>
          <p:nvPr/>
        </p:nvSpPr>
        <p:spPr>
          <a:xfrm>
            <a:off x="571500" y="4759802"/>
            <a:ext cx="8001000" cy="25003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71500" y="4874102"/>
            <a:ext cx="421590" cy="112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/>
              <a:t>Module 04</a:t>
            </a:r>
          </a:p>
        </p:txBody>
      </p:sp>
      <p:sp>
        <p:nvSpPr>
          <p:cNvPr id="24" name="Text 21"/>
          <p:cNvSpPr/>
          <p:nvPr/>
        </p:nvSpPr>
        <p:spPr>
          <a:xfrm>
            <a:off x="6144295" y="4874102"/>
            <a:ext cx="2095125" cy="112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/>
              <a:t>Working with Data &amp; EDA (2026 Edition) • Classic ML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18923" b="52708"/>
          <a:stretch>
            <a:fillRect/>
          </a:stretch>
        </p:blipFill>
        <p:spPr>
          <a:xfrm>
            <a:off x="0" y="973336"/>
            <a:ext cx="9144000" cy="1459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5826916" cy="4671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FF00FF"/>
                </a:solidFill>
              </a:rPr>
              <a:t>Step 6: Correlation &amp; Relationships</a:t>
            </a:r>
            <a:endParaRPr lang="en-US" sz="2862" dirty="0">
              <a:solidFill>
                <a:srgbClr val="FF00FF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1187648"/>
            <a:ext cx="80010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FFFFFF"/>
                </a:solidFill>
              </a:rPr>
              <a:t>Correlation Coefficient (r)</a:t>
            </a:r>
            <a:endParaRPr lang="en-US" sz="1704" dirty="0"/>
          </a:p>
        </p:txBody>
      </p:sp>
      <p:sp>
        <p:nvSpPr>
          <p:cNvPr id="5" name="Text 2"/>
          <p:cNvSpPr/>
          <p:nvPr/>
        </p:nvSpPr>
        <p:spPr>
          <a:xfrm>
            <a:off x="571500" y="1571625"/>
            <a:ext cx="1428750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FF00FF"/>
                </a:solidFill>
              </a:rPr>
              <a:t>-1.0
Negative</a:t>
            </a:r>
            <a:endParaRPr lang="en-US" sz="1269" dirty="0"/>
          </a:p>
        </p:txBody>
      </p:sp>
      <p:sp>
        <p:nvSpPr>
          <p:cNvPr id="6" name="Text 3"/>
          <p:cNvSpPr/>
          <p:nvPr/>
        </p:nvSpPr>
        <p:spPr>
          <a:xfrm>
            <a:off x="3857625" y="1571625"/>
            <a:ext cx="1428750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69" dirty="0">
                <a:solidFill>
                  <a:srgbClr val="CCCCCC"/>
                </a:solidFill>
              </a:rPr>
              <a:t>0.0
None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7143750" y="1571625"/>
            <a:ext cx="1428750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600"/>
              </a:lnSpc>
              <a:buNone/>
            </a:pPr>
            <a:r>
              <a:rPr lang="en-US" sz="1269" dirty="0">
                <a:solidFill>
                  <a:srgbClr val="00FFFF"/>
                </a:solidFill>
              </a:rPr>
              <a:t>+1.0
Positive</a:t>
            </a:r>
            <a:endParaRPr lang="en-US" sz="1269" dirty="0"/>
          </a:p>
        </p:txBody>
      </p:sp>
      <p:sp>
        <p:nvSpPr>
          <p:cNvPr id="8" name="Text 5"/>
          <p:cNvSpPr/>
          <p:nvPr/>
        </p:nvSpPr>
        <p:spPr>
          <a:xfrm>
            <a:off x="571500" y="2574067"/>
            <a:ext cx="3211970" cy="268471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dirty="0"/>
              <a:t>Use </a:t>
            </a:r>
            <a:r>
              <a:rPr lang="en-US" sz="1400" dirty="0">
                <a:solidFill>
                  <a:srgbClr val="00FF00"/>
                </a:solidFill>
                <a:highlight>
                  <a:srgbClr val="000000"/>
                </a:highlight>
              </a:rPr>
              <a:t>df.corr()</a:t>
            </a:r>
            <a:r>
              <a:rPr lang="en-US" sz="1400" dirty="0">
                <a:solidFill>
                  <a:srgbClr val="00FF00"/>
                </a:solidFill>
              </a:rPr>
              <a:t> </a:t>
            </a:r>
            <a:r>
              <a:rPr lang="en-US" sz="1600" dirty="0"/>
              <a:t>to generate the matrix</a:t>
            </a:r>
          </a:p>
        </p:txBody>
      </p:sp>
      <p:sp>
        <p:nvSpPr>
          <p:cNvPr id="9" name="Text 6"/>
          <p:cNvSpPr/>
          <p:nvPr/>
        </p:nvSpPr>
        <p:spPr>
          <a:xfrm>
            <a:off x="571500" y="2925534"/>
            <a:ext cx="2628476" cy="268471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dirty="0"/>
              <a:t>Visualize with </a:t>
            </a:r>
            <a:r>
              <a:rPr lang="en-US" sz="1400" dirty="0">
                <a:solidFill>
                  <a:srgbClr val="00FF00"/>
                </a:solidFill>
                <a:highlight>
                  <a:srgbClr val="000000"/>
                </a:highlight>
              </a:rPr>
              <a:t>sns.heatmap()</a:t>
            </a:r>
          </a:p>
        </p:txBody>
      </p:sp>
      <p:sp>
        <p:nvSpPr>
          <p:cNvPr id="10" name="Shape 7"/>
          <p:cNvSpPr/>
          <p:nvPr/>
        </p:nvSpPr>
        <p:spPr>
          <a:xfrm>
            <a:off x="571500" y="3236585"/>
            <a:ext cx="8001000" cy="1381925"/>
          </a:xfrm>
          <a:prstGeom prst="rect">
            <a:avLst/>
          </a:prstGeom>
          <a:solidFill>
            <a:srgbClr val="FF00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71500" y="3236585"/>
            <a:ext cx="42863" cy="1381925"/>
          </a:xfrm>
          <a:prstGeom prst="rect">
            <a:avLst/>
          </a:prstGeom>
          <a:solidFill>
            <a:srgbClr val="FF0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71500" y="2574067"/>
            <a:ext cx="75205" cy="280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rgbClr val="00FFFF"/>
                </a:solidFill>
              </a:rPr>
              <a:t>•</a:t>
            </a:r>
            <a:endParaRPr lang="en-US" sz="1486" dirty="0"/>
          </a:p>
        </p:txBody>
      </p:sp>
      <p:sp>
        <p:nvSpPr>
          <p:cNvPr id="13" name="Text 10"/>
          <p:cNvSpPr/>
          <p:nvPr/>
        </p:nvSpPr>
        <p:spPr>
          <a:xfrm>
            <a:off x="571500" y="2925534"/>
            <a:ext cx="75205" cy="280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rgbClr val="00FFFF"/>
                </a:solidFill>
              </a:rPr>
              <a:t>•</a:t>
            </a:r>
            <a:endParaRPr lang="en-US" sz="1486" dirty="0"/>
          </a:p>
        </p:txBody>
      </p:sp>
      <p:sp>
        <p:nvSpPr>
          <p:cNvPr id="14" name="Text 11"/>
          <p:cNvSpPr/>
          <p:nvPr/>
        </p:nvSpPr>
        <p:spPr>
          <a:xfrm>
            <a:off x="700088" y="3365172"/>
            <a:ext cx="7743825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00FF"/>
                </a:solidFill>
              </a:rPr>
              <a:t>⚠️ Watch Out: Multicollinearity</a:t>
            </a:r>
            <a:endParaRPr lang="en-US" sz="1397" dirty="0"/>
          </a:p>
        </p:txBody>
      </p:sp>
      <p:sp>
        <p:nvSpPr>
          <p:cNvPr id="15" name="Text 12"/>
          <p:cNvSpPr/>
          <p:nvPr/>
        </p:nvSpPr>
        <p:spPr>
          <a:xfrm>
            <a:off x="700088" y="3709858"/>
            <a:ext cx="7743825" cy="780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77" dirty="0"/>
              <a:t>When two features are highly correlated with </a:t>
            </a:r>
            <a:r>
              <a:rPr lang="en-US" sz="1295" b="1" dirty="0"/>
              <a:t>each other</a:t>
            </a:r>
            <a:r>
              <a:rPr lang="en-US" sz="1377" dirty="0"/>
              <a:t> (e.g., r &gt; 0.9).
 They provide redundant information and can confuse linear models.
</a:t>
            </a:r>
            <a:r>
              <a:rPr lang="en-US" sz="1295" b="1" dirty="0"/>
              <a:t>Action:</a:t>
            </a:r>
            <a:r>
              <a:rPr lang="en-US" sz="1377" dirty="0"/>
              <a:t> Drop one of the redundant features.</a:t>
            </a:r>
          </a:p>
        </p:txBody>
      </p:sp>
      <p:sp>
        <p:nvSpPr>
          <p:cNvPr id="16" name="Shape 13"/>
          <p:cNvSpPr/>
          <p:nvPr/>
        </p:nvSpPr>
        <p:spPr>
          <a:xfrm>
            <a:off x="571500" y="4700588"/>
            <a:ext cx="800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71500" y="4793456"/>
            <a:ext cx="421590" cy="112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/>
              <a:t>Module 04</a:t>
            </a:r>
          </a:p>
        </p:txBody>
      </p:sp>
      <p:sp>
        <p:nvSpPr>
          <p:cNvPr id="19" name="Text 16"/>
          <p:cNvSpPr/>
          <p:nvPr/>
        </p:nvSpPr>
        <p:spPr>
          <a:xfrm>
            <a:off x="6144295" y="4793456"/>
            <a:ext cx="2087110" cy="112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/>
              <a:t>Working with Data &amp; EDA (2026 Edition) • Classic ML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3DCBDE7-99D9-ABBD-999A-215E80B3B3C4}"/>
              </a:ext>
            </a:extLst>
          </p:cNvPr>
          <p:cNvGrpSpPr/>
          <p:nvPr/>
        </p:nvGrpSpPr>
        <p:grpSpPr>
          <a:xfrm>
            <a:off x="1237258" y="1500187"/>
            <a:ext cx="627876" cy="583483"/>
            <a:chOff x="96857" y="1599508"/>
            <a:chExt cx="896233" cy="761509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C99CF150-17CB-9EF3-A022-7115DABE282C}"/>
                </a:ext>
              </a:extLst>
            </p:cNvPr>
            <p:cNvCxnSpPr/>
            <p:nvPr/>
          </p:nvCxnSpPr>
          <p:spPr>
            <a:xfrm>
              <a:off x="96857" y="2361017"/>
              <a:ext cx="896233" cy="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F6D6C387-E7A1-4713-CE70-8A47159289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857" y="1599508"/>
              <a:ext cx="0" cy="752515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DCCBDBF-FBEB-BF99-6310-2E21824B681C}"/>
              </a:ext>
            </a:extLst>
          </p:cNvPr>
          <p:cNvGrpSpPr/>
          <p:nvPr/>
        </p:nvGrpSpPr>
        <p:grpSpPr>
          <a:xfrm>
            <a:off x="7367466" y="1500187"/>
            <a:ext cx="627876" cy="583483"/>
            <a:chOff x="96857" y="1599508"/>
            <a:chExt cx="896233" cy="761509"/>
          </a:xfrm>
        </p:grpSpPr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7036AF1E-DD66-BCE1-0A59-73F1875E4FC3}"/>
                </a:ext>
              </a:extLst>
            </p:cNvPr>
            <p:cNvCxnSpPr/>
            <p:nvPr/>
          </p:nvCxnSpPr>
          <p:spPr>
            <a:xfrm>
              <a:off x="96857" y="2361017"/>
              <a:ext cx="896233" cy="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57DA2816-ADFE-934D-7851-271AABBFFB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857" y="1599508"/>
              <a:ext cx="0" cy="752515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45E0CE7-C734-03D6-7800-415CD501FE4F}"/>
              </a:ext>
            </a:extLst>
          </p:cNvPr>
          <p:cNvCxnSpPr/>
          <p:nvPr/>
        </p:nvCxnSpPr>
        <p:spPr>
          <a:xfrm>
            <a:off x="1285875" y="1635020"/>
            <a:ext cx="351226" cy="351226"/>
          </a:xfrm>
          <a:prstGeom prst="line">
            <a:avLst/>
          </a:prstGeom>
          <a:ln>
            <a:solidFill>
              <a:srgbClr val="FF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73AA1A3-63DA-51DE-CE73-92F81507CBAE}"/>
              </a:ext>
            </a:extLst>
          </p:cNvPr>
          <p:cNvCxnSpPr>
            <a:cxnSpLocks/>
          </p:cNvCxnSpPr>
          <p:nvPr/>
        </p:nvCxnSpPr>
        <p:spPr>
          <a:xfrm rot="5400000">
            <a:off x="7443144" y="1686010"/>
            <a:ext cx="351226" cy="351226"/>
          </a:xfrm>
          <a:prstGeom prst="line">
            <a:avLst/>
          </a:prstGeom>
          <a:ln>
            <a:solidFill>
              <a:srgbClr val="02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90F7EE8-AAD1-B7EE-F0DB-A6B36D5C1144}"/>
              </a:ext>
            </a:extLst>
          </p:cNvPr>
          <p:cNvGrpSpPr/>
          <p:nvPr/>
        </p:nvGrpSpPr>
        <p:grpSpPr>
          <a:xfrm>
            <a:off x="4876691" y="1456058"/>
            <a:ext cx="627876" cy="583483"/>
            <a:chOff x="96857" y="1599508"/>
            <a:chExt cx="896233" cy="761509"/>
          </a:xfrm>
        </p:grpSpPr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09CD6897-E475-DEF3-E201-3ED04744C9A8}"/>
                </a:ext>
              </a:extLst>
            </p:cNvPr>
            <p:cNvCxnSpPr/>
            <p:nvPr/>
          </p:nvCxnSpPr>
          <p:spPr>
            <a:xfrm>
              <a:off x="96857" y="2361017"/>
              <a:ext cx="896233" cy="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7685D966-C165-7545-26D6-01252A6EA3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857" y="1599508"/>
              <a:ext cx="0" cy="752515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732E80E9-120E-172B-17CB-7418A9DE49AC}"/>
              </a:ext>
            </a:extLst>
          </p:cNvPr>
          <p:cNvSpPr/>
          <p:nvPr/>
        </p:nvSpPr>
        <p:spPr>
          <a:xfrm>
            <a:off x="4928043" y="1712886"/>
            <a:ext cx="509912" cy="257303"/>
          </a:xfrm>
          <a:custGeom>
            <a:avLst/>
            <a:gdLst>
              <a:gd name="csX0" fmla="*/ 0 w 563174"/>
              <a:gd name="csY0" fmla="*/ 219083 h 284179"/>
              <a:gd name="csX1" fmla="*/ 48446 w 563174"/>
              <a:gd name="csY1" fmla="*/ 152471 h 284179"/>
              <a:gd name="csX2" fmla="*/ 84779 w 563174"/>
              <a:gd name="csY2" fmla="*/ 176693 h 284179"/>
              <a:gd name="csX3" fmla="*/ 163502 w 563174"/>
              <a:gd name="csY3" fmla="*/ 249361 h 284179"/>
              <a:gd name="csX4" fmla="*/ 199836 w 563174"/>
              <a:gd name="csY4" fmla="*/ 170638 h 284179"/>
              <a:gd name="csX5" fmla="*/ 248281 w 563174"/>
              <a:gd name="csY5" fmla="*/ 7136 h 284179"/>
              <a:gd name="csX6" fmla="*/ 199836 w 563174"/>
              <a:gd name="csY6" fmla="*/ 1080 h 284179"/>
              <a:gd name="csX7" fmla="*/ 193781 w 563174"/>
              <a:gd name="csY7" fmla="*/ 43469 h 284179"/>
              <a:gd name="csX8" fmla="*/ 405728 w 563174"/>
              <a:gd name="csY8" fmla="*/ 61636 h 284179"/>
              <a:gd name="csX9" fmla="*/ 436006 w 563174"/>
              <a:gd name="csY9" fmla="*/ 85859 h 284179"/>
              <a:gd name="csX10" fmla="*/ 417839 w 563174"/>
              <a:gd name="csY10" fmla="*/ 225138 h 284179"/>
              <a:gd name="csX11" fmla="*/ 357283 w 563174"/>
              <a:gd name="csY11" fmla="*/ 267528 h 284179"/>
              <a:gd name="csX12" fmla="*/ 520785 w 563174"/>
              <a:gd name="csY12" fmla="*/ 267528 h 284179"/>
              <a:gd name="csX13" fmla="*/ 557118 w 563174"/>
              <a:gd name="csY13" fmla="*/ 225138 h 284179"/>
              <a:gd name="csX14" fmla="*/ 563174 w 563174"/>
              <a:gd name="csY14" fmla="*/ 200916 h 2841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63174" h="284179">
                <a:moveTo>
                  <a:pt x="0" y="219083"/>
                </a:moveTo>
                <a:cubicBezTo>
                  <a:pt x="7489" y="196617"/>
                  <a:pt x="14170" y="155328"/>
                  <a:pt x="48446" y="152471"/>
                </a:cubicBezTo>
                <a:cubicBezTo>
                  <a:pt x="62951" y="151262"/>
                  <a:pt x="72668" y="168619"/>
                  <a:pt x="84779" y="176693"/>
                </a:cubicBezTo>
                <a:cubicBezTo>
                  <a:pt x="89145" y="207253"/>
                  <a:pt x="87590" y="283100"/>
                  <a:pt x="163502" y="249361"/>
                </a:cubicBezTo>
                <a:cubicBezTo>
                  <a:pt x="189912" y="237623"/>
                  <a:pt x="190288" y="197917"/>
                  <a:pt x="199836" y="170638"/>
                </a:cubicBezTo>
                <a:cubicBezTo>
                  <a:pt x="218614" y="116987"/>
                  <a:pt x="248281" y="7136"/>
                  <a:pt x="248281" y="7136"/>
                </a:cubicBezTo>
                <a:cubicBezTo>
                  <a:pt x="232133" y="5117"/>
                  <a:pt x="215624" y="-2867"/>
                  <a:pt x="199836" y="1080"/>
                </a:cubicBezTo>
                <a:cubicBezTo>
                  <a:pt x="179555" y="6150"/>
                  <a:pt x="160042" y="36134"/>
                  <a:pt x="193781" y="43469"/>
                </a:cubicBezTo>
                <a:cubicBezTo>
                  <a:pt x="227254" y="50746"/>
                  <a:pt x="362544" y="58757"/>
                  <a:pt x="405728" y="61636"/>
                </a:cubicBezTo>
                <a:cubicBezTo>
                  <a:pt x="415821" y="69710"/>
                  <a:pt x="430590" y="74124"/>
                  <a:pt x="436006" y="85859"/>
                </a:cubicBezTo>
                <a:cubicBezTo>
                  <a:pt x="452720" y="122074"/>
                  <a:pt x="435161" y="199154"/>
                  <a:pt x="417839" y="225138"/>
                </a:cubicBezTo>
                <a:cubicBezTo>
                  <a:pt x="404172" y="245639"/>
                  <a:pt x="377468" y="253398"/>
                  <a:pt x="357283" y="267528"/>
                </a:cubicBezTo>
                <a:cubicBezTo>
                  <a:pt x="413959" y="286419"/>
                  <a:pt x="425967" y="292813"/>
                  <a:pt x="520785" y="267528"/>
                </a:cubicBezTo>
                <a:cubicBezTo>
                  <a:pt x="538767" y="262733"/>
                  <a:pt x="545007" y="239268"/>
                  <a:pt x="557118" y="225138"/>
                </a:cubicBezTo>
                <a:lnTo>
                  <a:pt x="563174" y="200916"/>
                </a:lnTo>
              </a:path>
            </a:pathLst>
          </a:cu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B4F482F-6D3F-F034-3938-CF50960B6CBB}"/>
              </a:ext>
            </a:extLst>
          </p:cNvPr>
          <p:cNvCxnSpPr/>
          <p:nvPr/>
        </p:nvCxnSpPr>
        <p:spPr>
          <a:xfrm>
            <a:off x="4965616" y="1603133"/>
            <a:ext cx="472339" cy="0"/>
          </a:xfrm>
          <a:prstGeom prst="line">
            <a:avLst/>
          </a:prstGeom>
          <a:ln>
            <a:solidFill>
              <a:srgbClr val="00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428625"/>
            <a:ext cx="5618526" cy="4671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FF00FF"/>
                </a:solidFill>
              </a:rPr>
              <a:t>Univariate Analysis (One Variable)</a:t>
            </a:r>
            <a:endParaRPr lang="en-US" sz="2862" dirty="0">
              <a:solidFill>
                <a:srgbClr val="FF00FF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1259086"/>
            <a:ext cx="75205" cy="280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rgbClr val="FF00FF"/>
                </a:solidFill>
              </a:rPr>
              <a:t>•</a:t>
            </a:r>
            <a:endParaRPr lang="en-US" sz="1486" dirty="0"/>
          </a:p>
        </p:txBody>
      </p:sp>
      <p:sp>
        <p:nvSpPr>
          <p:cNvPr id="5" name="Text 2"/>
          <p:cNvSpPr/>
          <p:nvPr/>
        </p:nvSpPr>
        <p:spPr>
          <a:xfrm>
            <a:off x="785813" y="1260872"/>
            <a:ext cx="484073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Goal:</a:t>
            </a:r>
            <a:endParaRPr lang="en-US" sz="1486" dirty="0"/>
          </a:p>
        </p:txBody>
      </p:sp>
      <p:sp>
        <p:nvSpPr>
          <p:cNvPr id="6" name="Text 3"/>
          <p:cNvSpPr/>
          <p:nvPr/>
        </p:nvSpPr>
        <p:spPr>
          <a:xfrm>
            <a:off x="785813" y="1260872"/>
            <a:ext cx="4042525" cy="5532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/>
              <a:t>Understand the distribution of a single feature independently.</a:t>
            </a:r>
          </a:p>
        </p:txBody>
      </p:sp>
      <p:sp>
        <p:nvSpPr>
          <p:cNvPr id="7" name="Text 4"/>
          <p:cNvSpPr/>
          <p:nvPr/>
        </p:nvSpPr>
        <p:spPr>
          <a:xfrm>
            <a:off x="571500" y="1911556"/>
            <a:ext cx="1467518" cy="311496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00FF"/>
                </a:solidFill>
              </a:rPr>
              <a:t>Numerical Data</a:t>
            </a:r>
            <a:endParaRPr lang="en-US" sz="1602" dirty="0">
              <a:solidFill>
                <a:srgbClr val="FF00FF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571500" y="2374114"/>
            <a:ext cx="75342" cy="2278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chemeClr val="accent4"/>
                </a:solidFill>
              </a:rPr>
              <a:t>–</a:t>
            </a:r>
          </a:p>
        </p:txBody>
      </p:sp>
      <p:sp>
        <p:nvSpPr>
          <p:cNvPr id="9" name="Text 6"/>
          <p:cNvSpPr/>
          <p:nvPr/>
        </p:nvSpPr>
        <p:spPr>
          <a:xfrm>
            <a:off x="785813" y="2375900"/>
            <a:ext cx="774251" cy="2278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/>
              <a:t>Histogram:</a:t>
            </a:r>
          </a:p>
        </p:txBody>
      </p:sp>
      <p:sp>
        <p:nvSpPr>
          <p:cNvPr id="10" name="Text 7"/>
          <p:cNvSpPr/>
          <p:nvPr/>
        </p:nvSpPr>
        <p:spPr>
          <a:xfrm>
            <a:off x="1680121" y="2375900"/>
            <a:ext cx="2080698" cy="2278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/>
              <a:t>View shape (Normal, Skewed)</a:t>
            </a:r>
          </a:p>
        </p:txBody>
      </p:sp>
      <p:sp>
        <p:nvSpPr>
          <p:cNvPr id="11" name="Text 8"/>
          <p:cNvSpPr/>
          <p:nvPr/>
        </p:nvSpPr>
        <p:spPr>
          <a:xfrm>
            <a:off x="571500" y="2685565"/>
            <a:ext cx="75342" cy="2278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chemeClr val="accent4"/>
                </a:solidFill>
              </a:rPr>
              <a:t>–</a:t>
            </a:r>
          </a:p>
        </p:txBody>
      </p:sp>
      <p:sp>
        <p:nvSpPr>
          <p:cNvPr id="12" name="Text 9"/>
          <p:cNvSpPr/>
          <p:nvPr/>
        </p:nvSpPr>
        <p:spPr>
          <a:xfrm>
            <a:off x="785813" y="2687351"/>
            <a:ext cx="609141" cy="2278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/>
              <a:t>Box Plot:</a:t>
            </a:r>
          </a:p>
        </p:txBody>
      </p:sp>
      <p:sp>
        <p:nvSpPr>
          <p:cNvPr id="13" name="Text 10"/>
          <p:cNvSpPr/>
          <p:nvPr/>
        </p:nvSpPr>
        <p:spPr>
          <a:xfrm>
            <a:off x="1492374" y="2687351"/>
            <a:ext cx="1678345" cy="2278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/>
              <a:t>Spot outliers &amp; quartiles</a:t>
            </a:r>
          </a:p>
        </p:txBody>
      </p:sp>
      <p:sp>
        <p:nvSpPr>
          <p:cNvPr id="14" name="Text 11"/>
          <p:cNvSpPr/>
          <p:nvPr/>
        </p:nvSpPr>
        <p:spPr>
          <a:xfrm>
            <a:off x="571500" y="2997016"/>
            <a:ext cx="75342" cy="2278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chemeClr val="accent4"/>
                </a:solidFill>
              </a:rPr>
              <a:t>–</a:t>
            </a:r>
          </a:p>
        </p:txBody>
      </p:sp>
      <p:sp>
        <p:nvSpPr>
          <p:cNvPr id="15" name="Text 12"/>
          <p:cNvSpPr/>
          <p:nvPr/>
        </p:nvSpPr>
        <p:spPr>
          <a:xfrm>
            <a:off x="785813" y="2998802"/>
            <a:ext cx="1314462" cy="2278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/>
              <a:t>Density Plot (KDE):</a:t>
            </a:r>
          </a:p>
        </p:txBody>
      </p:sp>
      <p:sp>
        <p:nvSpPr>
          <p:cNvPr id="16" name="Text 13"/>
          <p:cNvSpPr/>
          <p:nvPr/>
        </p:nvSpPr>
        <p:spPr>
          <a:xfrm>
            <a:off x="2267499" y="2998802"/>
            <a:ext cx="1758495" cy="2278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/>
              <a:t>Smooth probability curve</a:t>
            </a:r>
          </a:p>
        </p:txBody>
      </p:sp>
      <p:sp>
        <p:nvSpPr>
          <p:cNvPr id="17" name="Text 14"/>
          <p:cNvSpPr/>
          <p:nvPr/>
        </p:nvSpPr>
        <p:spPr>
          <a:xfrm>
            <a:off x="571500" y="3522779"/>
            <a:ext cx="1562928" cy="311496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00FF"/>
                </a:solidFill>
              </a:rPr>
              <a:t>Categorical Data</a:t>
            </a:r>
            <a:endParaRPr lang="en-US" sz="1602" dirty="0">
              <a:solidFill>
                <a:srgbClr val="FF00FF"/>
              </a:solidFill>
            </a:endParaRPr>
          </a:p>
        </p:txBody>
      </p:sp>
      <p:sp>
        <p:nvSpPr>
          <p:cNvPr id="18" name="Text 15"/>
          <p:cNvSpPr/>
          <p:nvPr/>
        </p:nvSpPr>
        <p:spPr>
          <a:xfrm>
            <a:off x="571500" y="3985337"/>
            <a:ext cx="75342" cy="2278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chemeClr val="accent4"/>
                </a:solidFill>
              </a:rPr>
              <a:t>–</a:t>
            </a:r>
          </a:p>
        </p:txBody>
      </p:sp>
      <p:sp>
        <p:nvSpPr>
          <p:cNvPr id="19" name="Text 16"/>
          <p:cNvSpPr/>
          <p:nvPr/>
        </p:nvSpPr>
        <p:spPr>
          <a:xfrm>
            <a:off x="785813" y="3987123"/>
            <a:ext cx="714939" cy="2278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/>
              <a:t>Bar Chart:</a:t>
            </a:r>
          </a:p>
        </p:txBody>
      </p:sp>
      <p:sp>
        <p:nvSpPr>
          <p:cNvPr id="20" name="Text 17"/>
          <p:cNvSpPr/>
          <p:nvPr/>
        </p:nvSpPr>
        <p:spPr>
          <a:xfrm>
            <a:off x="1597995" y="3987123"/>
            <a:ext cx="2415726" cy="2278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/>
              <a:t>Count/Frequency of each category</a:t>
            </a:r>
          </a:p>
        </p:txBody>
      </p:sp>
      <p:sp>
        <p:nvSpPr>
          <p:cNvPr id="21" name="Text 18"/>
          <p:cNvSpPr/>
          <p:nvPr/>
        </p:nvSpPr>
        <p:spPr>
          <a:xfrm>
            <a:off x="571500" y="4296787"/>
            <a:ext cx="75342" cy="2278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chemeClr val="accent4"/>
                </a:solidFill>
              </a:rPr>
              <a:t>–</a:t>
            </a:r>
          </a:p>
        </p:txBody>
      </p:sp>
      <p:sp>
        <p:nvSpPr>
          <p:cNvPr id="22" name="Text 19"/>
          <p:cNvSpPr/>
          <p:nvPr/>
        </p:nvSpPr>
        <p:spPr>
          <a:xfrm>
            <a:off x="785813" y="4298573"/>
            <a:ext cx="690895" cy="2278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/>
              <a:t>Pie Chart:</a:t>
            </a:r>
          </a:p>
        </p:txBody>
      </p:sp>
      <p:sp>
        <p:nvSpPr>
          <p:cNvPr id="23" name="Text 20"/>
          <p:cNvSpPr/>
          <p:nvPr/>
        </p:nvSpPr>
        <p:spPr>
          <a:xfrm>
            <a:off x="1564202" y="4298573"/>
            <a:ext cx="1891543" cy="2278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/>
              <a:t>(Use sparingly) Proportions</a:t>
            </a:r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7525" y="1715463"/>
            <a:ext cx="4719544" cy="2808114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571500" y="4746127"/>
            <a:ext cx="8001000" cy="25003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571500" y="4860427"/>
            <a:ext cx="421590" cy="112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/>
              <a:t>Module 04</a:t>
            </a:r>
          </a:p>
        </p:txBody>
      </p:sp>
      <p:sp>
        <p:nvSpPr>
          <p:cNvPr id="29" name="Text 25"/>
          <p:cNvSpPr/>
          <p:nvPr/>
        </p:nvSpPr>
        <p:spPr>
          <a:xfrm>
            <a:off x="6144295" y="4860427"/>
            <a:ext cx="2095125" cy="112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/>
              <a:t>Working with Data &amp; EDA (2026 Edition) • Classic ML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428625"/>
            <a:ext cx="5536772" cy="4671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dirty="0">
                <a:solidFill>
                  <a:schemeClr val="accent4"/>
                </a:solidFill>
              </a:rPr>
              <a:t>Bivariate Analysis (Two Variables)</a:t>
            </a:r>
            <a:endParaRPr lang="en-US" sz="2862" dirty="0">
              <a:solidFill>
                <a:schemeClr val="accent4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1173361"/>
            <a:ext cx="2806768" cy="301823"/>
          </a:xfrm>
          <a:prstGeom prst="rect">
            <a:avLst/>
          </a:prstGeom>
          <a:noFill/>
          <a:ln/>
        </p:spPr>
        <p:txBody>
          <a:bodyPr wrap="none" lIns="0" tIns="0" rIns="0" bIns="25527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00FF"/>
                </a:solidFill>
              </a:rPr>
              <a:t>Numerical vs. Numerical</a:t>
            </a:r>
            <a:endParaRPr lang="en-US" sz="1397" dirty="0"/>
          </a:p>
        </p:txBody>
      </p:sp>
      <p:sp>
        <p:nvSpPr>
          <p:cNvPr id="5" name="Text 2"/>
          <p:cNvSpPr/>
          <p:nvPr/>
        </p:nvSpPr>
        <p:spPr>
          <a:xfrm>
            <a:off x="571500" y="1532334"/>
            <a:ext cx="64461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00FFFF"/>
                </a:solidFill>
              </a:rPr>
              <a:t>•</a:t>
            </a:r>
            <a:endParaRPr lang="en-US" sz="1269" dirty="0"/>
          </a:p>
        </p:txBody>
      </p:sp>
      <p:sp>
        <p:nvSpPr>
          <p:cNvPr id="6" name="Text 3"/>
          <p:cNvSpPr/>
          <p:nvPr/>
        </p:nvSpPr>
        <p:spPr>
          <a:xfrm>
            <a:off x="750094" y="1534120"/>
            <a:ext cx="860813" cy="2278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/>
              <a:t>Scatter Plot:</a:t>
            </a:r>
          </a:p>
        </p:txBody>
      </p:sp>
      <p:sp>
        <p:nvSpPr>
          <p:cNvPr id="7" name="Text 4"/>
          <p:cNvSpPr/>
          <p:nvPr/>
        </p:nvSpPr>
        <p:spPr>
          <a:xfrm>
            <a:off x="1718128" y="1534120"/>
            <a:ext cx="258238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Shows linear/non-linear patterns</a:t>
            </a:r>
            <a:endParaRPr lang="en-US" sz="1269" dirty="0"/>
          </a:p>
        </p:txBody>
      </p:sp>
      <p:sp>
        <p:nvSpPr>
          <p:cNvPr id="8" name="Text 5"/>
          <p:cNvSpPr/>
          <p:nvPr/>
        </p:nvSpPr>
        <p:spPr>
          <a:xfrm>
            <a:off x="571500" y="1815210"/>
            <a:ext cx="64461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00FFFF"/>
                </a:solidFill>
              </a:rPr>
              <a:t>•</a:t>
            </a:r>
            <a:endParaRPr lang="en-US" sz="1269" dirty="0"/>
          </a:p>
        </p:txBody>
      </p:sp>
      <p:sp>
        <p:nvSpPr>
          <p:cNvPr id="9" name="Text 6"/>
          <p:cNvSpPr/>
          <p:nvPr/>
        </p:nvSpPr>
        <p:spPr>
          <a:xfrm>
            <a:off x="750094" y="1816996"/>
            <a:ext cx="1529265" cy="2278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/>
              <a:t>Correlation Heatmap:</a:t>
            </a:r>
          </a:p>
        </p:txBody>
      </p:sp>
      <p:sp>
        <p:nvSpPr>
          <p:cNvPr id="10" name="Text 7"/>
          <p:cNvSpPr/>
          <p:nvPr/>
        </p:nvSpPr>
        <p:spPr>
          <a:xfrm>
            <a:off x="2487588" y="1816996"/>
            <a:ext cx="18813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Strength of relationship</a:t>
            </a:r>
            <a:endParaRPr lang="en-US" sz="1269" dirty="0"/>
          </a:p>
        </p:txBody>
      </p:sp>
      <p:sp>
        <p:nvSpPr>
          <p:cNvPr id="11" name="Text 8"/>
          <p:cNvSpPr/>
          <p:nvPr/>
        </p:nvSpPr>
        <p:spPr>
          <a:xfrm>
            <a:off x="571500" y="2183811"/>
            <a:ext cx="2975595" cy="301823"/>
          </a:xfrm>
          <a:prstGeom prst="rect">
            <a:avLst/>
          </a:prstGeom>
          <a:noFill/>
          <a:ln/>
        </p:spPr>
        <p:txBody>
          <a:bodyPr wrap="none" lIns="0" tIns="0" rIns="0" bIns="25527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00FF"/>
                </a:solidFill>
              </a:rPr>
              <a:t>Numerical vs. Categorical</a:t>
            </a:r>
            <a:endParaRPr lang="en-US" sz="1397" dirty="0"/>
          </a:p>
        </p:txBody>
      </p:sp>
      <p:sp>
        <p:nvSpPr>
          <p:cNvPr id="12" name="Text 9"/>
          <p:cNvSpPr/>
          <p:nvPr/>
        </p:nvSpPr>
        <p:spPr>
          <a:xfrm>
            <a:off x="571500" y="2542784"/>
            <a:ext cx="64461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00FFFF"/>
                </a:solidFill>
              </a:rPr>
              <a:t>•</a:t>
            </a:r>
            <a:endParaRPr lang="en-US" sz="1269" dirty="0"/>
          </a:p>
        </p:txBody>
      </p:sp>
      <p:sp>
        <p:nvSpPr>
          <p:cNvPr id="13" name="Text 10"/>
          <p:cNvSpPr/>
          <p:nvPr/>
        </p:nvSpPr>
        <p:spPr>
          <a:xfrm>
            <a:off x="750094" y="2544570"/>
            <a:ext cx="609141" cy="2278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/>
              <a:t>Box Plot:</a:t>
            </a:r>
          </a:p>
        </p:txBody>
      </p:sp>
      <p:sp>
        <p:nvSpPr>
          <p:cNvPr id="14" name="Text 11"/>
          <p:cNvSpPr/>
          <p:nvPr/>
        </p:nvSpPr>
        <p:spPr>
          <a:xfrm>
            <a:off x="1456655" y="2544570"/>
            <a:ext cx="292151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Compare distributions across groups</a:t>
            </a:r>
            <a:endParaRPr lang="en-US" sz="1269" dirty="0"/>
          </a:p>
        </p:txBody>
      </p:sp>
      <p:sp>
        <p:nvSpPr>
          <p:cNvPr id="15" name="Text 12"/>
          <p:cNvSpPr/>
          <p:nvPr/>
        </p:nvSpPr>
        <p:spPr>
          <a:xfrm>
            <a:off x="571500" y="2825660"/>
            <a:ext cx="64461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00FFFF"/>
                </a:solidFill>
              </a:rPr>
              <a:t>•</a:t>
            </a:r>
            <a:endParaRPr lang="en-US" sz="1269" dirty="0"/>
          </a:p>
        </p:txBody>
      </p:sp>
      <p:sp>
        <p:nvSpPr>
          <p:cNvPr id="16" name="Text 13"/>
          <p:cNvSpPr/>
          <p:nvPr/>
        </p:nvSpPr>
        <p:spPr>
          <a:xfrm>
            <a:off x="750094" y="2827446"/>
            <a:ext cx="751809" cy="2278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/>
              <a:t>Violin Plot:</a:t>
            </a:r>
          </a:p>
        </p:txBody>
      </p:sp>
      <p:sp>
        <p:nvSpPr>
          <p:cNvPr id="17" name="Text 14"/>
          <p:cNvSpPr/>
          <p:nvPr/>
        </p:nvSpPr>
        <p:spPr>
          <a:xfrm>
            <a:off x="1599474" y="2827446"/>
            <a:ext cx="1994136" cy="2278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/>
              <a:t>Density + Box plot combined</a:t>
            </a:r>
          </a:p>
        </p:txBody>
      </p:sp>
      <p:sp>
        <p:nvSpPr>
          <p:cNvPr id="18" name="Text 15"/>
          <p:cNvSpPr/>
          <p:nvPr/>
        </p:nvSpPr>
        <p:spPr>
          <a:xfrm>
            <a:off x="571500" y="3194261"/>
            <a:ext cx="3144394" cy="301823"/>
          </a:xfrm>
          <a:prstGeom prst="rect">
            <a:avLst/>
          </a:prstGeom>
          <a:noFill/>
          <a:ln/>
        </p:spPr>
        <p:txBody>
          <a:bodyPr wrap="none" lIns="0" tIns="0" rIns="0" bIns="25527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00FF"/>
                </a:solidFill>
              </a:rPr>
              <a:t>Categorical vs. Categorical</a:t>
            </a:r>
            <a:endParaRPr lang="en-US" sz="1397" dirty="0"/>
          </a:p>
        </p:txBody>
      </p:sp>
      <p:sp>
        <p:nvSpPr>
          <p:cNvPr id="19" name="Text 16"/>
          <p:cNvSpPr/>
          <p:nvPr/>
        </p:nvSpPr>
        <p:spPr>
          <a:xfrm>
            <a:off x="571500" y="3553234"/>
            <a:ext cx="64461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00FFFF"/>
                </a:solidFill>
              </a:rPr>
              <a:t>•</a:t>
            </a:r>
            <a:endParaRPr lang="en-US" sz="1269" dirty="0"/>
          </a:p>
        </p:txBody>
      </p:sp>
      <p:sp>
        <p:nvSpPr>
          <p:cNvPr id="20" name="Text 17"/>
          <p:cNvSpPr/>
          <p:nvPr/>
        </p:nvSpPr>
        <p:spPr>
          <a:xfrm>
            <a:off x="750094" y="3555020"/>
            <a:ext cx="1314462" cy="2278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/>
              <a:t>Stacked Bar Chart:</a:t>
            </a:r>
          </a:p>
        </p:txBody>
      </p:sp>
      <p:sp>
        <p:nvSpPr>
          <p:cNvPr id="21" name="Text 18"/>
          <p:cNvSpPr/>
          <p:nvPr/>
        </p:nvSpPr>
        <p:spPr>
          <a:xfrm>
            <a:off x="2235045" y="3555020"/>
            <a:ext cx="1793761" cy="2278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/>
              <a:t>Proportions within groups</a:t>
            </a:r>
          </a:p>
        </p:txBody>
      </p:sp>
      <p:sp>
        <p:nvSpPr>
          <p:cNvPr id="22" name="Text 19"/>
          <p:cNvSpPr/>
          <p:nvPr/>
        </p:nvSpPr>
        <p:spPr>
          <a:xfrm>
            <a:off x="571500" y="3836110"/>
            <a:ext cx="64461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00FFFF"/>
                </a:solidFill>
              </a:rPr>
              <a:t>•</a:t>
            </a:r>
            <a:endParaRPr lang="en-US" sz="1269" dirty="0"/>
          </a:p>
        </p:txBody>
      </p:sp>
      <p:sp>
        <p:nvSpPr>
          <p:cNvPr id="23" name="Text 20"/>
          <p:cNvSpPr/>
          <p:nvPr/>
        </p:nvSpPr>
        <p:spPr>
          <a:xfrm>
            <a:off x="750094" y="3837896"/>
            <a:ext cx="1373774" cy="2278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/>
              <a:t>Crosstab Heatmap:</a:t>
            </a:r>
          </a:p>
        </p:txBody>
      </p:sp>
      <p:sp>
        <p:nvSpPr>
          <p:cNvPr id="24" name="Text 21"/>
          <p:cNvSpPr/>
          <p:nvPr/>
        </p:nvSpPr>
        <p:spPr>
          <a:xfrm>
            <a:off x="2291609" y="3837896"/>
            <a:ext cx="1912383" cy="2278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/>
              <a:t>Frequency of combinations</a:t>
            </a:r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0510" y="1331416"/>
            <a:ext cx="4656903" cy="2684291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71500" y="4836319"/>
            <a:ext cx="421590" cy="112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/>
              <a:t>Module 04</a:t>
            </a:r>
          </a:p>
        </p:txBody>
      </p:sp>
      <p:sp>
        <p:nvSpPr>
          <p:cNvPr id="30" name="Text 26"/>
          <p:cNvSpPr/>
          <p:nvPr/>
        </p:nvSpPr>
        <p:spPr>
          <a:xfrm>
            <a:off x="6144295" y="4836319"/>
            <a:ext cx="2087110" cy="112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/>
              <a:t>Working with Data &amp; EDA (2026 Edition) • Classic ML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428625"/>
            <a:ext cx="3478516" cy="4671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dirty="0">
                <a:solidFill>
                  <a:schemeClr val="accent4"/>
                </a:solidFill>
              </a:rPr>
              <a:t>Multivariate Analysis</a:t>
            </a:r>
            <a:endParaRPr lang="en-US" sz="2862" dirty="0">
              <a:solidFill>
                <a:schemeClr val="accent4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944876"/>
            <a:ext cx="4768934" cy="235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 dirty="0"/>
              <a:t>Finding complex interactions between 3 or more variables.</a:t>
            </a:r>
          </a:p>
        </p:txBody>
      </p:sp>
      <p:sp>
        <p:nvSpPr>
          <p:cNvPr id="5" name="Shape 2"/>
          <p:cNvSpPr/>
          <p:nvPr/>
        </p:nvSpPr>
        <p:spPr>
          <a:xfrm>
            <a:off x="571500" y="1294690"/>
            <a:ext cx="3893344" cy="1533004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71500" y="1294690"/>
            <a:ext cx="35719" cy="1533004"/>
          </a:xfrm>
          <a:prstGeom prst="rect">
            <a:avLst/>
          </a:prstGeom>
          <a:solidFill>
            <a:srgbClr val="00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50094" y="1473284"/>
            <a:ext cx="3536156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99" b="1" dirty="0">
                <a:solidFill>
                  <a:srgbClr val="FFFFFF"/>
                </a:solidFill>
              </a:rPr>
              <a:t>1. Color (Hue)</a:t>
            </a:r>
            <a:endParaRPr lang="en-US" sz="1499" dirty="0"/>
          </a:p>
        </p:txBody>
      </p:sp>
      <p:sp>
        <p:nvSpPr>
          <p:cNvPr id="8" name="Text 5"/>
          <p:cNvSpPr/>
          <p:nvPr/>
        </p:nvSpPr>
        <p:spPr>
          <a:xfrm>
            <a:off x="750094" y="1835829"/>
            <a:ext cx="3536156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DDDDDD"/>
                </a:solidFill>
              </a:rPr>
              <a:t>Add a categorical dimension to a 2D scatter plot using color.</a:t>
            </a:r>
            <a:endParaRPr lang="en-US" sz="1159" dirty="0"/>
          </a:p>
        </p:txBody>
      </p:sp>
      <p:sp>
        <p:nvSpPr>
          <p:cNvPr id="9" name="Shape 6"/>
          <p:cNvSpPr/>
          <p:nvPr/>
        </p:nvSpPr>
        <p:spPr>
          <a:xfrm>
            <a:off x="750094" y="2382996"/>
            <a:ext cx="1122294" cy="26610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50094" y="2382996"/>
            <a:ext cx="1122294" cy="266105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00FF00"/>
                </a:solidFill>
              </a:rPr>
              <a:t>hue='Survived'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679156" y="1294690"/>
            <a:ext cx="3893344" cy="1533004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679156" y="1294690"/>
            <a:ext cx="35719" cy="1533004"/>
          </a:xfrm>
          <a:prstGeom prst="rect">
            <a:avLst/>
          </a:prstGeom>
          <a:solidFill>
            <a:srgbClr val="FF0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857750" y="1473284"/>
            <a:ext cx="3536156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99" b="1" dirty="0">
                <a:solidFill>
                  <a:srgbClr val="FFFFFF"/>
                </a:solidFill>
              </a:rPr>
              <a:t>2. Size (Bubble)</a:t>
            </a:r>
            <a:endParaRPr lang="en-US" sz="1499" dirty="0"/>
          </a:p>
        </p:txBody>
      </p:sp>
      <p:sp>
        <p:nvSpPr>
          <p:cNvPr id="14" name="Text 11"/>
          <p:cNvSpPr/>
          <p:nvPr/>
        </p:nvSpPr>
        <p:spPr>
          <a:xfrm>
            <a:off x="4857750" y="1835829"/>
            <a:ext cx="3536156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DDDDDD"/>
                </a:solidFill>
              </a:rPr>
              <a:t>Add a numerical dimension by varying the size of points.</a:t>
            </a:r>
            <a:endParaRPr lang="en-US" sz="1159" dirty="0"/>
          </a:p>
        </p:txBody>
      </p:sp>
      <p:sp>
        <p:nvSpPr>
          <p:cNvPr id="15" name="Shape 12"/>
          <p:cNvSpPr/>
          <p:nvPr/>
        </p:nvSpPr>
        <p:spPr>
          <a:xfrm>
            <a:off x="4857750" y="2382996"/>
            <a:ext cx="831549" cy="26610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857750" y="2382996"/>
            <a:ext cx="831549" cy="266105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00FF00"/>
                </a:solidFill>
              </a:rPr>
              <a:t>size='Fare'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71500" y="3042007"/>
            <a:ext cx="3893344" cy="1533004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71500" y="3042007"/>
            <a:ext cx="35719" cy="1533004"/>
          </a:xfrm>
          <a:prstGeom prst="rect">
            <a:avLst/>
          </a:prstGeom>
          <a:solidFill>
            <a:srgbClr val="FF0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50094" y="3220601"/>
            <a:ext cx="3536156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99" b="1" dirty="0">
                <a:solidFill>
                  <a:srgbClr val="FFFFFF"/>
                </a:solidFill>
              </a:rPr>
              <a:t>3. Pair Plots</a:t>
            </a:r>
            <a:endParaRPr lang="en-US" sz="1499" dirty="0"/>
          </a:p>
        </p:txBody>
      </p:sp>
      <p:sp>
        <p:nvSpPr>
          <p:cNvPr id="20" name="Text 17"/>
          <p:cNvSpPr/>
          <p:nvPr/>
        </p:nvSpPr>
        <p:spPr>
          <a:xfrm>
            <a:off x="750094" y="3583146"/>
            <a:ext cx="3536156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DDDDDD"/>
                </a:solidFill>
              </a:rPr>
              <a:t>Visualize relationships between ALL numerical pairs at once.</a:t>
            </a:r>
            <a:endParaRPr lang="en-US" sz="1159" dirty="0"/>
          </a:p>
        </p:txBody>
      </p:sp>
      <p:sp>
        <p:nvSpPr>
          <p:cNvPr id="21" name="Shape 18"/>
          <p:cNvSpPr/>
          <p:nvPr/>
        </p:nvSpPr>
        <p:spPr>
          <a:xfrm>
            <a:off x="750094" y="4130313"/>
            <a:ext cx="1161445" cy="26610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50094" y="4130313"/>
            <a:ext cx="1161445" cy="266105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00FF00"/>
                </a:solidFill>
              </a:rPr>
              <a:t>sns.pairplot(df)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679156" y="3042007"/>
            <a:ext cx="3893344" cy="1533004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4679156" y="3042007"/>
            <a:ext cx="35719" cy="1533004"/>
          </a:xfrm>
          <a:prstGeom prst="rect">
            <a:avLst/>
          </a:prstGeom>
          <a:solidFill>
            <a:srgbClr val="00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857750" y="3220601"/>
            <a:ext cx="3536156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99" b="1" dirty="0">
                <a:solidFill>
                  <a:srgbClr val="FFFFFF"/>
                </a:solidFill>
              </a:rPr>
              <a:t>4. Facet Grids</a:t>
            </a:r>
            <a:endParaRPr lang="en-US" sz="1499" dirty="0"/>
          </a:p>
        </p:txBody>
      </p:sp>
      <p:sp>
        <p:nvSpPr>
          <p:cNvPr id="26" name="Text 23"/>
          <p:cNvSpPr/>
          <p:nvPr/>
        </p:nvSpPr>
        <p:spPr>
          <a:xfrm>
            <a:off x="4857750" y="3583146"/>
            <a:ext cx="3536156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DDDDDD"/>
                </a:solidFill>
              </a:rPr>
              <a:t>Create small multiples (separate charts) for each category.</a:t>
            </a:r>
            <a:endParaRPr lang="en-US" sz="1159" dirty="0"/>
          </a:p>
        </p:txBody>
      </p:sp>
      <p:sp>
        <p:nvSpPr>
          <p:cNvPr id="27" name="Shape 24"/>
          <p:cNvSpPr/>
          <p:nvPr/>
        </p:nvSpPr>
        <p:spPr>
          <a:xfrm>
            <a:off x="4857750" y="4130313"/>
            <a:ext cx="1249738" cy="26610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857750" y="4130313"/>
            <a:ext cx="1249738" cy="266105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00FF00"/>
                </a:solidFill>
              </a:rPr>
              <a:t>sns.FacetGrid(...)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71500" y="4784080"/>
            <a:ext cx="8001000" cy="25003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571500" y="4898380"/>
            <a:ext cx="421590" cy="112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/>
              <a:t>Module 04</a:t>
            </a:r>
          </a:p>
        </p:txBody>
      </p:sp>
      <p:sp>
        <p:nvSpPr>
          <p:cNvPr id="32" name="Text 29"/>
          <p:cNvSpPr/>
          <p:nvPr/>
        </p:nvSpPr>
        <p:spPr>
          <a:xfrm>
            <a:off x="6144295" y="4898380"/>
            <a:ext cx="2087110" cy="112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/>
              <a:t>Working with Data &amp; EDA (2026 Edition) • Classic ML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428625"/>
            <a:ext cx="5810886" cy="4671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dirty="0">
                <a:solidFill>
                  <a:schemeClr val="accent4"/>
                </a:solidFill>
              </a:rPr>
              <a:t>Understanding Your Target Variable</a:t>
            </a:r>
            <a:endParaRPr lang="en-US" sz="2862" dirty="0">
              <a:solidFill>
                <a:schemeClr val="accent4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1116211"/>
            <a:ext cx="5195333" cy="235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 dirty="0"/>
              <a:t>The target variable is the most important feature to analyze first.</a:t>
            </a:r>
          </a:p>
        </p:txBody>
      </p:sp>
      <p:sp>
        <p:nvSpPr>
          <p:cNvPr id="5" name="Shape 2"/>
          <p:cNvSpPr/>
          <p:nvPr/>
        </p:nvSpPr>
        <p:spPr>
          <a:xfrm>
            <a:off x="571500" y="1459013"/>
            <a:ext cx="3786188" cy="3153966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71500" y="1459013"/>
            <a:ext cx="3786188" cy="42863"/>
          </a:xfrm>
          <a:prstGeom prst="rect">
            <a:avLst/>
          </a:prstGeom>
          <a:solidFill>
            <a:srgbClr val="00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28663" y="1616176"/>
            <a:ext cx="3471863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FFFF"/>
                </a:solidFill>
              </a:rPr>
              <a:t>Classification</a:t>
            </a:r>
            <a:endParaRPr lang="en-US" sz="1808" dirty="0"/>
          </a:p>
        </p:txBody>
      </p:sp>
      <p:sp>
        <p:nvSpPr>
          <p:cNvPr id="8" name="Text 5"/>
          <p:cNvSpPr/>
          <p:nvPr/>
        </p:nvSpPr>
        <p:spPr>
          <a:xfrm>
            <a:off x="728663" y="2080520"/>
            <a:ext cx="347186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Check: Class Balance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728663" y="2400202"/>
            <a:ext cx="64461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00FFFF"/>
                </a:solidFill>
              </a:rPr>
              <a:t>•</a:t>
            </a:r>
            <a:endParaRPr lang="en-US" sz="1269" dirty="0"/>
          </a:p>
        </p:txBody>
      </p:sp>
      <p:sp>
        <p:nvSpPr>
          <p:cNvPr id="10" name="Text 7"/>
          <p:cNvSpPr/>
          <p:nvPr/>
        </p:nvSpPr>
        <p:spPr>
          <a:xfrm>
            <a:off x="907256" y="2401988"/>
            <a:ext cx="235693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DDDDDD"/>
                </a:solidFill>
              </a:rPr>
              <a:t>Are classes evenly distributed?</a:t>
            </a:r>
            <a:endParaRPr lang="en-US" sz="1269" dirty="0"/>
          </a:p>
        </p:txBody>
      </p:sp>
      <p:sp>
        <p:nvSpPr>
          <p:cNvPr id="11" name="Text 8"/>
          <p:cNvSpPr/>
          <p:nvPr/>
        </p:nvSpPr>
        <p:spPr>
          <a:xfrm>
            <a:off x="728663" y="2711653"/>
            <a:ext cx="64461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00FFFF"/>
                </a:solidFill>
              </a:rPr>
              <a:t>•</a:t>
            </a:r>
            <a:endParaRPr lang="en-US" sz="1269" dirty="0"/>
          </a:p>
        </p:txBody>
      </p:sp>
      <p:sp>
        <p:nvSpPr>
          <p:cNvPr id="12" name="Text 9"/>
          <p:cNvSpPr/>
          <p:nvPr/>
        </p:nvSpPr>
        <p:spPr>
          <a:xfrm>
            <a:off x="907256" y="2713439"/>
            <a:ext cx="126050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DDDDDD"/>
                </a:solidFill>
              </a:rPr>
              <a:t>Imbalance Risk:</a:t>
            </a:r>
            <a:endParaRPr lang="en-US" sz="1269" dirty="0"/>
          </a:p>
        </p:txBody>
      </p:sp>
      <p:sp>
        <p:nvSpPr>
          <p:cNvPr id="13" name="Text 10"/>
          <p:cNvSpPr/>
          <p:nvPr/>
        </p:nvSpPr>
        <p:spPr>
          <a:xfrm>
            <a:off x="2167765" y="2713439"/>
            <a:ext cx="186435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DDDDDD"/>
                </a:solidFill>
              </a:rPr>
              <a:t>Ignoring minority class.</a:t>
            </a:r>
            <a:endParaRPr lang="en-US" sz="1269" dirty="0"/>
          </a:p>
        </p:txBody>
      </p:sp>
      <p:sp>
        <p:nvSpPr>
          <p:cNvPr id="14" name="Text 11"/>
          <p:cNvSpPr/>
          <p:nvPr/>
        </p:nvSpPr>
        <p:spPr>
          <a:xfrm>
            <a:off x="728663" y="3023104"/>
            <a:ext cx="64461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00FFFF"/>
                </a:solidFill>
              </a:rPr>
              <a:t>•</a:t>
            </a:r>
            <a:endParaRPr lang="en-US" sz="1269" dirty="0"/>
          </a:p>
        </p:txBody>
      </p:sp>
      <p:sp>
        <p:nvSpPr>
          <p:cNvPr id="15" name="Text 12"/>
          <p:cNvSpPr/>
          <p:nvPr/>
        </p:nvSpPr>
        <p:spPr>
          <a:xfrm>
            <a:off x="907256" y="3024890"/>
            <a:ext cx="218685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DDDDDD"/>
                </a:solidFill>
              </a:rPr>
              <a:t>Accuracy is misleading here.</a:t>
            </a:r>
            <a:endParaRPr lang="en-US" sz="1269" dirty="0"/>
          </a:p>
        </p:txBody>
      </p:sp>
      <p:sp>
        <p:nvSpPr>
          <p:cNvPr id="16" name="Text 13"/>
          <p:cNvSpPr/>
          <p:nvPr/>
        </p:nvSpPr>
        <p:spPr>
          <a:xfrm>
            <a:off x="728663" y="3544235"/>
            <a:ext cx="383118" cy="1488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chemeClr val="bg1"/>
                </a:solidFill>
              </a:rPr>
              <a:t>Class 0</a:t>
            </a:r>
          </a:p>
        </p:txBody>
      </p:sp>
      <p:sp>
        <p:nvSpPr>
          <p:cNvPr id="17" name="Text 14"/>
          <p:cNvSpPr/>
          <p:nvPr/>
        </p:nvSpPr>
        <p:spPr>
          <a:xfrm>
            <a:off x="728663" y="3762119"/>
            <a:ext cx="386324" cy="1488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chemeClr val="bg1"/>
                </a:solidFill>
              </a:rPr>
              <a:t>Class 1</a:t>
            </a:r>
          </a:p>
        </p:txBody>
      </p:sp>
      <p:sp>
        <p:nvSpPr>
          <p:cNvPr id="18" name="Shape 15"/>
          <p:cNvSpPr/>
          <p:nvPr/>
        </p:nvSpPr>
        <p:spPr>
          <a:xfrm>
            <a:off x="728663" y="4175396"/>
            <a:ext cx="3471863" cy="28039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28663" y="4175396"/>
            <a:ext cx="3471863" cy="280392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00FF00"/>
                </a:solidFill>
              </a:rPr>
              <a:t>df['target'].value_counts()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786313" y="1459013"/>
            <a:ext cx="3786188" cy="3153966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786313" y="1459013"/>
            <a:ext cx="3786188" cy="42863"/>
          </a:xfrm>
          <a:prstGeom prst="rect">
            <a:avLst/>
          </a:prstGeom>
          <a:solidFill>
            <a:srgbClr val="FF0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943475" y="1616176"/>
            <a:ext cx="3471863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F00FF"/>
                </a:solidFill>
              </a:rPr>
              <a:t>Regression</a:t>
            </a:r>
            <a:endParaRPr lang="en-US" sz="1808" dirty="0"/>
          </a:p>
        </p:txBody>
      </p:sp>
      <p:sp>
        <p:nvSpPr>
          <p:cNvPr id="23" name="Text 20"/>
          <p:cNvSpPr/>
          <p:nvPr/>
        </p:nvSpPr>
        <p:spPr>
          <a:xfrm>
            <a:off x="4943475" y="2080520"/>
            <a:ext cx="347186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Check: Distribution</a:t>
            </a:r>
            <a:endParaRPr lang="en-US" sz="1193" dirty="0"/>
          </a:p>
        </p:txBody>
      </p:sp>
      <p:sp>
        <p:nvSpPr>
          <p:cNvPr id="24" name="Text 21"/>
          <p:cNvSpPr/>
          <p:nvPr/>
        </p:nvSpPr>
        <p:spPr>
          <a:xfrm>
            <a:off x="4943475" y="2400202"/>
            <a:ext cx="64461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FF00FF"/>
                </a:solidFill>
              </a:rPr>
              <a:t>•</a:t>
            </a:r>
            <a:endParaRPr lang="en-US" sz="1269" dirty="0"/>
          </a:p>
        </p:txBody>
      </p:sp>
      <p:sp>
        <p:nvSpPr>
          <p:cNvPr id="25" name="Text 22"/>
          <p:cNvSpPr/>
          <p:nvPr/>
        </p:nvSpPr>
        <p:spPr>
          <a:xfrm>
            <a:off x="5122069" y="2401988"/>
            <a:ext cx="263724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DDDDDD"/>
                </a:solidFill>
              </a:rPr>
              <a:t>Is the target normally distributed?</a:t>
            </a:r>
            <a:endParaRPr lang="en-US" sz="1269" dirty="0"/>
          </a:p>
        </p:txBody>
      </p:sp>
      <p:sp>
        <p:nvSpPr>
          <p:cNvPr id="26" name="Text 23"/>
          <p:cNvSpPr/>
          <p:nvPr/>
        </p:nvSpPr>
        <p:spPr>
          <a:xfrm>
            <a:off x="4943475" y="2711653"/>
            <a:ext cx="64461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FF00FF"/>
                </a:solidFill>
              </a:rPr>
              <a:t>•</a:t>
            </a:r>
            <a:endParaRPr lang="en-US" sz="1269" dirty="0"/>
          </a:p>
        </p:txBody>
      </p:sp>
      <p:sp>
        <p:nvSpPr>
          <p:cNvPr id="27" name="Text 24"/>
          <p:cNvSpPr/>
          <p:nvPr/>
        </p:nvSpPr>
        <p:spPr>
          <a:xfrm>
            <a:off x="5122069" y="2713439"/>
            <a:ext cx="11957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DDDDDD"/>
                </a:solidFill>
              </a:rPr>
              <a:t>Skewness Risk:</a:t>
            </a:r>
            <a:endParaRPr lang="en-US" sz="1269" dirty="0"/>
          </a:p>
        </p:txBody>
      </p:sp>
      <p:sp>
        <p:nvSpPr>
          <p:cNvPr id="28" name="Text 25"/>
          <p:cNvSpPr/>
          <p:nvPr/>
        </p:nvSpPr>
        <p:spPr>
          <a:xfrm>
            <a:off x="6317782" y="2713439"/>
            <a:ext cx="161473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DDDDDD"/>
                </a:solidFill>
              </a:rPr>
              <a:t>Outliers skew mean.</a:t>
            </a:r>
            <a:endParaRPr lang="en-US" sz="1269" dirty="0"/>
          </a:p>
        </p:txBody>
      </p:sp>
      <p:sp>
        <p:nvSpPr>
          <p:cNvPr id="29" name="Text 26"/>
          <p:cNvSpPr/>
          <p:nvPr/>
        </p:nvSpPr>
        <p:spPr>
          <a:xfrm>
            <a:off x="4943475" y="3023104"/>
            <a:ext cx="64461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FF00FF"/>
                </a:solidFill>
              </a:rPr>
              <a:t>•</a:t>
            </a:r>
            <a:endParaRPr lang="en-US" sz="1269" dirty="0"/>
          </a:p>
        </p:txBody>
      </p:sp>
      <p:sp>
        <p:nvSpPr>
          <p:cNvPr id="30" name="Text 27"/>
          <p:cNvSpPr/>
          <p:nvPr/>
        </p:nvSpPr>
        <p:spPr>
          <a:xfrm>
            <a:off x="5122069" y="3024890"/>
            <a:ext cx="237323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DDDDDD"/>
                </a:solidFill>
              </a:rPr>
              <a:t>May need Log Transformation.</a:t>
            </a:r>
            <a:endParaRPr lang="en-US" sz="1269" dirty="0"/>
          </a:p>
        </p:txBody>
      </p:sp>
      <p:sp>
        <p:nvSpPr>
          <p:cNvPr id="31" name="Shape 28"/>
          <p:cNvSpPr/>
          <p:nvPr/>
        </p:nvSpPr>
        <p:spPr>
          <a:xfrm>
            <a:off x="4943475" y="4175424"/>
            <a:ext cx="3471863" cy="28039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4943475" y="4175424"/>
            <a:ext cx="3471863" cy="280392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00FF00"/>
                </a:solidFill>
              </a:rPr>
              <a:t>sns.histplot(df['target'])</a:t>
            </a:r>
            <a:endParaRPr lang="en-US" sz="1050" dirty="0"/>
          </a:p>
        </p:txBody>
      </p:sp>
      <p:sp>
        <p:nvSpPr>
          <p:cNvPr id="37" name="Shape 26">
            <a:extLst>
              <a:ext uri="{FF2B5EF4-FFF2-40B4-BE49-F238E27FC236}">
                <a16:creationId xmlns:a16="http://schemas.microsoft.com/office/drawing/2014/main" id="{7481FE3F-6AED-1A62-9783-2213D72F42C8}"/>
              </a:ext>
            </a:extLst>
          </p:cNvPr>
          <p:cNvSpPr/>
          <p:nvPr/>
        </p:nvSpPr>
        <p:spPr>
          <a:xfrm>
            <a:off x="571500" y="4784080"/>
            <a:ext cx="8001000" cy="25003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28">
            <a:extLst>
              <a:ext uri="{FF2B5EF4-FFF2-40B4-BE49-F238E27FC236}">
                <a16:creationId xmlns:a16="http://schemas.microsoft.com/office/drawing/2014/main" id="{5854E409-CD78-6484-D0C7-6EB861ABD5DC}"/>
              </a:ext>
            </a:extLst>
          </p:cNvPr>
          <p:cNvSpPr/>
          <p:nvPr/>
        </p:nvSpPr>
        <p:spPr>
          <a:xfrm>
            <a:off x="571500" y="4898380"/>
            <a:ext cx="421590" cy="112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/>
              <a:t>Module 04</a:t>
            </a:r>
          </a:p>
        </p:txBody>
      </p:sp>
      <p:sp>
        <p:nvSpPr>
          <p:cNvPr id="39" name="Text 29">
            <a:extLst>
              <a:ext uri="{FF2B5EF4-FFF2-40B4-BE49-F238E27FC236}">
                <a16:creationId xmlns:a16="http://schemas.microsoft.com/office/drawing/2014/main" id="{C5BECD32-7E6E-0853-3630-A8B4B7636B59}"/>
              </a:ext>
            </a:extLst>
          </p:cNvPr>
          <p:cNvSpPr/>
          <p:nvPr/>
        </p:nvSpPr>
        <p:spPr>
          <a:xfrm>
            <a:off x="6144295" y="4898380"/>
            <a:ext cx="2087110" cy="112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/>
              <a:t>Working with Data &amp; EDA (2026 Edition) • Classic ML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428625"/>
            <a:ext cx="4783361" cy="4671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0070C0"/>
                </a:solidFill>
              </a:rPr>
              <a:t>Feature-Target Relationships</a:t>
            </a:r>
            <a:endParaRPr lang="en-US" sz="2862" dirty="0">
              <a:solidFill>
                <a:srgbClr val="0070C0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949952"/>
            <a:ext cx="5329985" cy="235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 dirty="0"/>
              <a:t>The goal is to identify which features actually drive the prediction.</a:t>
            </a:r>
          </a:p>
        </p:txBody>
      </p:sp>
      <p:sp>
        <p:nvSpPr>
          <p:cNvPr id="5" name="Shape 2"/>
          <p:cNvSpPr/>
          <p:nvPr/>
        </p:nvSpPr>
        <p:spPr>
          <a:xfrm>
            <a:off x="571500" y="1389459"/>
            <a:ext cx="3821906" cy="3215329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71500" y="1389459"/>
            <a:ext cx="3821906" cy="42863"/>
          </a:xfrm>
          <a:prstGeom prst="rect">
            <a:avLst/>
          </a:prstGeom>
          <a:solidFill>
            <a:srgbClr val="00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21531" y="1560909"/>
            <a:ext cx="3321844" cy="625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kern="0" spc="1" dirty="0">
                <a:solidFill>
                  <a:srgbClr val="00FFFF"/>
                </a:solidFill>
              </a:rPr>
              <a:t>Numerical Target (Regression)</a:t>
            </a:r>
            <a:endParaRPr lang="en-US" sz="1602" dirty="0"/>
          </a:p>
        </p:txBody>
      </p:sp>
      <p:sp>
        <p:nvSpPr>
          <p:cNvPr id="8" name="Text 5"/>
          <p:cNvSpPr/>
          <p:nvPr/>
        </p:nvSpPr>
        <p:spPr>
          <a:xfrm>
            <a:off x="821531" y="2271713"/>
            <a:ext cx="3321844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888888"/>
                </a:solidFill>
              </a:rPr>
              <a:t>Look For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821531" y="2491020"/>
            <a:ext cx="3318216" cy="511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77" dirty="0">
                <a:solidFill>
                  <a:srgbClr val="DDDDDD"/>
                </a:solidFill>
              </a:rPr>
              <a:t>Linear or non-linear trends (Does X go up when Y goes up?)</a:t>
            </a:r>
            <a:endParaRPr lang="en-US" sz="1377" dirty="0"/>
          </a:p>
        </p:txBody>
      </p:sp>
      <p:sp>
        <p:nvSpPr>
          <p:cNvPr id="10" name="Text 7"/>
          <p:cNvSpPr/>
          <p:nvPr/>
        </p:nvSpPr>
        <p:spPr>
          <a:xfrm>
            <a:off x="821531" y="3136078"/>
            <a:ext cx="3321844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888888"/>
                </a:solidFill>
              </a:rPr>
              <a:t>Key Metric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821531" y="3355386"/>
            <a:ext cx="2197094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77" dirty="0">
                <a:solidFill>
                  <a:srgbClr val="DDDDDD"/>
                </a:solidFill>
              </a:rPr>
              <a:t>Correlation Coefficient (r)</a:t>
            </a:r>
            <a:endParaRPr lang="en-US" sz="1377" dirty="0"/>
          </a:p>
        </p:txBody>
      </p:sp>
      <p:sp>
        <p:nvSpPr>
          <p:cNvPr id="12" name="Text 9"/>
          <p:cNvSpPr/>
          <p:nvPr/>
        </p:nvSpPr>
        <p:spPr>
          <a:xfrm>
            <a:off x="821531" y="3740423"/>
            <a:ext cx="3321844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888888"/>
                </a:solidFill>
              </a:rPr>
              <a:t>Visual Tool</a:t>
            </a:r>
            <a:endParaRPr lang="en-US" sz="942" dirty="0"/>
          </a:p>
        </p:txBody>
      </p:sp>
      <p:sp>
        <p:nvSpPr>
          <p:cNvPr id="13" name="Shape 10"/>
          <p:cNvSpPr/>
          <p:nvPr/>
        </p:nvSpPr>
        <p:spPr>
          <a:xfrm>
            <a:off x="821531" y="3956159"/>
            <a:ext cx="3321844" cy="30573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21531" y="3956159"/>
            <a:ext cx="3321844" cy="305730"/>
          </a:xfrm>
          <a:prstGeom prst="rect">
            <a:avLst/>
          </a:prstGeom>
          <a:noFill/>
          <a:ln/>
        </p:spPr>
        <p:txBody>
          <a:bodyPr wrap="none" lIns="102108" tIns="51054" rIns="102108" bIns="51054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00FF00"/>
                </a:solidFill>
              </a:rPr>
              <a:t>sns.scatterplot(x=feat, y=target)</a:t>
            </a:r>
            <a:endParaRPr lang="en-US" sz="1159" dirty="0"/>
          </a:p>
        </p:txBody>
      </p:sp>
      <p:sp>
        <p:nvSpPr>
          <p:cNvPr id="15" name="Shape 12"/>
          <p:cNvSpPr/>
          <p:nvPr/>
        </p:nvSpPr>
        <p:spPr>
          <a:xfrm>
            <a:off x="4750594" y="1389459"/>
            <a:ext cx="3821906" cy="3215329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750594" y="1389459"/>
            <a:ext cx="3821906" cy="42863"/>
          </a:xfrm>
          <a:prstGeom prst="rect">
            <a:avLst/>
          </a:prstGeom>
          <a:solidFill>
            <a:srgbClr val="FF0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000625" y="1560909"/>
            <a:ext cx="3321844" cy="625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kern="0" spc="1" dirty="0">
                <a:solidFill>
                  <a:srgbClr val="FF00FF"/>
                </a:solidFill>
              </a:rPr>
              <a:t>Categorical Target (Classification)</a:t>
            </a:r>
            <a:endParaRPr lang="en-US" sz="1602" dirty="0"/>
          </a:p>
        </p:txBody>
      </p:sp>
      <p:sp>
        <p:nvSpPr>
          <p:cNvPr id="18" name="Text 15"/>
          <p:cNvSpPr/>
          <p:nvPr/>
        </p:nvSpPr>
        <p:spPr>
          <a:xfrm>
            <a:off x="5000625" y="2271713"/>
            <a:ext cx="3321844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888888"/>
                </a:solidFill>
              </a:rPr>
              <a:t>Look For</a:t>
            </a:r>
            <a:endParaRPr lang="en-US" sz="942" dirty="0"/>
          </a:p>
        </p:txBody>
      </p:sp>
      <p:sp>
        <p:nvSpPr>
          <p:cNvPr id="19" name="Text 16"/>
          <p:cNvSpPr/>
          <p:nvPr/>
        </p:nvSpPr>
        <p:spPr>
          <a:xfrm>
            <a:off x="5000625" y="2491020"/>
            <a:ext cx="3001156" cy="511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77" dirty="0">
                <a:solidFill>
                  <a:srgbClr val="DDDDDD"/>
                </a:solidFill>
              </a:rPr>
              <a:t>Separation between classes (Is the distribution different?)</a:t>
            </a:r>
            <a:endParaRPr lang="en-US" sz="1377" dirty="0"/>
          </a:p>
        </p:txBody>
      </p:sp>
      <p:sp>
        <p:nvSpPr>
          <p:cNvPr id="20" name="Text 17"/>
          <p:cNvSpPr/>
          <p:nvPr/>
        </p:nvSpPr>
        <p:spPr>
          <a:xfrm>
            <a:off x="5000625" y="3136078"/>
            <a:ext cx="3321844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888888"/>
                </a:solidFill>
              </a:rPr>
              <a:t>Key Metric</a:t>
            </a:r>
            <a:endParaRPr lang="en-US" sz="942" dirty="0"/>
          </a:p>
        </p:txBody>
      </p:sp>
      <p:sp>
        <p:nvSpPr>
          <p:cNvPr id="21" name="Text 18"/>
          <p:cNvSpPr/>
          <p:nvPr/>
        </p:nvSpPr>
        <p:spPr>
          <a:xfrm>
            <a:off x="5000625" y="3355386"/>
            <a:ext cx="2651978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77" dirty="0">
                <a:solidFill>
                  <a:srgbClr val="DDDDDD"/>
                </a:solidFill>
              </a:rPr>
              <a:t>Difference in Means / Medians</a:t>
            </a:r>
            <a:endParaRPr lang="en-US" sz="1377" dirty="0"/>
          </a:p>
        </p:txBody>
      </p:sp>
      <p:sp>
        <p:nvSpPr>
          <p:cNvPr id="22" name="Text 19"/>
          <p:cNvSpPr/>
          <p:nvPr/>
        </p:nvSpPr>
        <p:spPr>
          <a:xfrm>
            <a:off x="5000625" y="3740423"/>
            <a:ext cx="3321844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888888"/>
                </a:solidFill>
              </a:rPr>
              <a:t>Visual Tool</a:t>
            </a:r>
            <a:endParaRPr lang="en-US" sz="942" dirty="0"/>
          </a:p>
        </p:txBody>
      </p:sp>
      <p:sp>
        <p:nvSpPr>
          <p:cNvPr id="23" name="Shape 20"/>
          <p:cNvSpPr/>
          <p:nvPr/>
        </p:nvSpPr>
        <p:spPr>
          <a:xfrm>
            <a:off x="5000625" y="3956159"/>
            <a:ext cx="3321844" cy="30573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000625" y="3956159"/>
            <a:ext cx="3321844" cy="305730"/>
          </a:xfrm>
          <a:prstGeom prst="rect">
            <a:avLst/>
          </a:prstGeom>
          <a:noFill/>
          <a:ln/>
        </p:spPr>
        <p:txBody>
          <a:bodyPr wrap="none" lIns="102108" tIns="51054" rIns="102108" bIns="51054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00FF00"/>
                </a:solidFill>
              </a:rPr>
              <a:t>sns.boxplot(x=target, y=feat)</a:t>
            </a:r>
            <a:endParaRPr lang="en-US" sz="1159" dirty="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45B9B2FD-838B-0FFF-AF2D-4EE903025DE7}"/>
              </a:ext>
            </a:extLst>
          </p:cNvPr>
          <p:cNvSpPr/>
          <p:nvPr/>
        </p:nvSpPr>
        <p:spPr>
          <a:xfrm>
            <a:off x="571500" y="4784080"/>
            <a:ext cx="8001000" cy="25003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ACE9FE44-B2E6-C975-4732-0FF7B6A8EE0B}"/>
              </a:ext>
            </a:extLst>
          </p:cNvPr>
          <p:cNvSpPr/>
          <p:nvPr/>
        </p:nvSpPr>
        <p:spPr>
          <a:xfrm>
            <a:off x="571500" y="4898380"/>
            <a:ext cx="421590" cy="112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/>
              <a:t>Module 04</a:t>
            </a: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0151C079-AC40-7518-874D-F571803FE492}"/>
              </a:ext>
            </a:extLst>
          </p:cNvPr>
          <p:cNvSpPr/>
          <p:nvPr/>
        </p:nvSpPr>
        <p:spPr>
          <a:xfrm>
            <a:off x="6144295" y="4898380"/>
            <a:ext cx="2087110" cy="112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/>
              <a:t>Working with Data &amp; EDA (2026 Edition) • Classic ML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428625"/>
            <a:ext cx="4847481" cy="4671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0070C0"/>
                </a:solidFill>
              </a:rPr>
              <a:t>Common Data Quality Issues</a:t>
            </a:r>
            <a:endParaRPr lang="en-US" sz="2862" dirty="0">
              <a:solidFill>
                <a:srgbClr val="0070C0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1259086"/>
            <a:ext cx="75205" cy="280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rgbClr val="FF00FF"/>
                </a:solidFill>
              </a:rPr>
              <a:t>•</a:t>
            </a:r>
            <a:endParaRPr lang="en-US" sz="1486" dirty="0"/>
          </a:p>
        </p:txBody>
      </p:sp>
      <p:sp>
        <p:nvSpPr>
          <p:cNvPr id="5" name="Text 2"/>
          <p:cNvSpPr/>
          <p:nvPr/>
        </p:nvSpPr>
        <p:spPr>
          <a:xfrm>
            <a:off x="821531" y="1260872"/>
            <a:ext cx="945772" cy="2643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chemeClr val="accent5"/>
                </a:solidFill>
              </a:rPr>
              <a:t>Duplicates:</a:t>
            </a:r>
          </a:p>
        </p:txBody>
      </p:sp>
      <p:sp>
        <p:nvSpPr>
          <p:cNvPr id="6" name="Text 3"/>
          <p:cNvSpPr/>
          <p:nvPr/>
        </p:nvSpPr>
        <p:spPr>
          <a:xfrm>
            <a:off x="1860082" y="1260872"/>
            <a:ext cx="1812997" cy="2643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/>
              <a:t>Exact or partial copies</a:t>
            </a:r>
          </a:p>
        </p:txBody>
      </p:sp>
      <p:sp>
        <p:nvSpPr>
          <p:cNvPr id="7" name="Text 4"/>
          <p:cNvSpPr/>
          <p:nvPr/>
        </p:nvSpPr>
        <p:spPr>
          <a:xfrm>
            <a:off x="821531" y="1574834"/>
            <a:ext cx="2550378" cy="2046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i="1" dirty="0"/>
              <a:t>Distorts statistics and biases the model.</a:t>
            </a:r>
            <a:endParaRPr lang="en-US" sz="1159" dirty="0"/>
          </a:p>
        </p:txBody>
      </p:sp>
      <p:sp>
        <p:nvSpPr>
          <p:cNvPr id="8" name="Text 5"/>
          <p:cNvSpPr/>
          <p:nvPr/>
        </p:nvSpPr>
        <p:spPr>
          <a:xfrm>
            <a:off x="571500" y="1973433"/>
            <a:ext cx="75205" cy="280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rgbClr val="FF00FF"/>
                </a:solidFill>
              </a:rPr>
              <a:t>•</a:t>
            </a:r>
            <a:endParaRPr lang="en-US" sz="1486" dirty="0"/>
          </a:p>
        </p:txBody>
      </p:sp>
      <p:sp>
        <p:nvSpPr>
          <p:cNvPr id="9" name="Text 6"/>
          <p:cNvSpPr/>
          <p:nvPr/>
        </p:nvSpPr>
        <p:spPr>
          <a:xfrm>
            <a:off x="821531" y="1975219"/>
            <a:ext cx="2006960" cy="2643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chemeClr val="accent5"/>
                </a:solidFill>
              </a:rPr>
              <a:t>Inconsistent Categories:</a:t>
            </a:r>
          </a:p>
        </p:txBody>
      </p:sp>
      <p:sp>
        <p:nvSpPr>
          <p:cNvPr id="10" name="Text 7"/>
          <p:cNvSpPr/>
          <p:nvPr/>
        </p:nvSpPr>
        <p:spPr>
          <a:xfrm>
            <a:off x="821531" y="2289181"/>
            <a:ext cx="3337452" cy="2046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i="1" dirty="0"/>
              <a:t>"USA", "usa", "U.S.A." are treated as 3 different things.</a:t>
            </a:r>
            <a:endParaRPr lang="en-US" sz="1159" dirty="0"/>
          </a:p>
        </p:txBody>
      </p:sp>
      <p:sp>
        <p:nvSpPr>
          <p:cNvPr id="11" name="Text 8"/>
          <p:cNvSpPr/>
          <p:nvPr/>
        </p:nvSpPr>
        <p:spPr>
          <a:xfrm>
            <a:off x="571500" y="2687780"/>
            <a:ext cx="75205" cy="280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rgbClr val="FF00FF"/>
                </a:solidFill>
              </a:rPr>
              <a:t>•</a:t>
            </a:r>
            <a:endParaRPr lang="en-US" sz="1486" dirty="0"/>
          </a:p>
        </p:txBody>
      </p:sp>
      <p:sp>
        <p:nvSpPr>
          <p:cNvPr id="12" name="Text 9"/>
          <p:cNvSpPr/>
          <p:nvPr/>
        </p:nvSpPr>
        <p:spPr>
          <a:xfrm>
            <a:off x="821531" y="2689566"/>
            <a:ext cx="1553310" cy="2643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chemeClr val="accent5"/>
                </a:solidFill>
              </a:rPr>
              <a:t>Impossible Values:</a:t>
            </a:r>
          </a:p>
        </p:txBody>
      </p:sp>
      <p:sp>
        <p:nvSpPr>
          <p:cNvPr id="13" name="Text 10"/>
          <p:cNvSpPr/>
          <p:nvPr/>
        </p:nvSpPr>
        <p:spPr>
          <a:xfrm>
            <a:off x="821531" y="3003528"/>
            <a:ext cx="2604880" cy="2046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i="1" dirty="0"/>
              <a:t>Age = -5, Height = 0. Sanity checks failed.</a:t>
            </a:r>
            <a:endParaRPr lang="en-US" sz="1159" dirty="0"/>
          </a:p>
        </p:txBody>
      </p:sp>
      <p:sp>
        <p:nvSpPr>
          <p:cNvPr id="14" name="Text 11"/>
          <p:cNvSpPr/>
          <p:nvPr/>
        </p:nvSpPr>
        <p:spPr>
          <a:xfrm>
            <a:off x="571500" y="3402127"/>
            <a:ext cx="75205" cy="280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rgbClr val="FF00FF"/>
                </a:solidFill>
              </a:rPr>
              <a:t>•</a:t>
            </a:r>
            <a:endParaRPr lang="en-US" sz="1486" dirty="0"/>
          </a:p>
        </p:txBody>
      </p:sp>
      <p:sp>
        <p:nvSpPr>
          <p:cNvPr id="15" name="Text 12"/>
          <p:cNvSpPr/>
          <p:nvPr/>
        </p:nvSpPr>
        <p:spPr>
          <a:xfrm>
            <a:off x="821531" y="3403913"/>
            <a:ext cx="1506823" cy="2643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chemeClr val="accent5"/>
                </a:solidFill>
              </a:rPr>
              <a:t>Scale Differences:</a:t>
            </a:r>
          </a:p>
        </p:txBody>
      </p:sp>
      <p:sp>
        <p:nvSpPr>
          <p:cNvPr id="16" name="Text 13"/>
          <p:cNvSpPr/>
          <p:nvPr/>
        </p:nvSpPr>
        <p:spPr>
          <a:xfrm>
            <a:off x="821531" y="3717875"/>
            <a:ext cx="3454472" cy="2046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i="1" dirty="0"/>
              <a:t>Salary (100,000) vs Age (30). Large numbers dominate.</a:t>
            </a:r>
            <a:endParaRPr lang="en-US" sz="1159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/>
          <a:srcRect l="11393" r="8233"/>
          <a:stretch>
            <a:fillRect/>
          </a:stretch>
        </p:blipFill>
        <p:spPr>
          <a:xfrm>
            <a:off x="4333809" y="996128"/>
            <a:ext cx="4752940" cy="3326394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71500" y="4679156"/>
            <a:ext cx="8001000" cy="25003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571500" y="4845918"/>
            <a:ext cx="421590" cy="112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/>
              <a:t>Module 04</a:t>
            </a:r>
          </a:p>
        </p:txBody>
      </p:sp>
      <p:sp>
        <p:nvSpPr>
          <p:cNvPr id="23" name="Text 29">
            <a:extLst>
              <a:ext uri="{FF2B5EF4-FFF2-40B4-BE49-F238E27FC236}">
                <a16:creationId xmlns:a16="http://schemas.microsoft.com/office/drawing/2014/main" id="{C108EEFC-0261-409E-D2D9-D8339242DA09}"/>
              </a:ext>
            </a:extLst>
          </p:cNvPr>
          <p:cNvSpPr/>
          <p:nvPr/>
        </p:nvSpPr>
        <p:spPr>
          <a:xfrm>
            <a:off x="6144295" y="4845918"/>
            <a:ext cx="2087110" cy="112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/>
              <a:t>Working with Data &amp; EDA (2026 Edition) • Classic ML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428625"/>
            <a:ext cx="2240998" cy="4671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0070C0"/>
                </a:solidFill>
              </a:rPr>
              <a:t>Data Leakage</a:t>
            </a:r>
            <a:endParaRPr lang="en-US" sz="2862" dirty="0">
              <a:solidFill>
                <a:srgbClr val="0070C0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1044773"/>
            <a:ext cx="800100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24" kern="0" spc="2" dirty="0">
                <a:solidFill>
                  <a:srgbClr val="FF00FF"/>
                </a:solidFill>
              </a:rPr>
              <a:t>The Silent Killer</a:t>
            </a:r>
            <a:endParaRPr lang="en-US" sz="1924" dirty="0"/>
          </a:p>
        </p:txBody>
      </p:sp>
      <p:sp>
        <p:nvSpPr>
          <p:cNvPr id="5" name="Shape 2"/>
          <p:cNvSpPr/>
          <p:nvPr/>
        </p:nvSpPr>
        <p:spPr>
          <a:xfrm>
            <a:off x="571500" y="1594842"/>
            <a:ext cx="8001000" cy="900113"/>
          </a:xfrm>
          <a:prstGeom prst="rect">
            <a:avLst/>
          </a:prstGeom>
          <a:solidFill>
            <a:srgbClr val="FF00FF">
              <a:alpha val="5000"/>
            </a:srgbClr>
          </a:solidFill>
          <a:ln w="18288">
            <a:solidFill>
              <a:srgbClr val="FF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14375" y="1737717"/>
            <a:ext cx="7715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704" dirty="0"/>
              <a:t>When information from outside the training dataset (like the test set or future data) is used to create the model.</a:t>
            </a:r>
          </a:p>
        </p:txBody>
      </p:sp>
      <p:sp>
        <p:nvSpPr>
          <p:cNvPr id="7" name="Text 4"/>
          <p:cNvSpPr/>
          <p:nvPr/>
        </p:nvSpPr>
        <p:spPr>
          <a:xfrm>
            <a:off x="571500" y="2594967"/>
            <a:ext cx="3857625" cy="323255"/>
          </a:xfrm>
          <a:prstGeom prst="rect">
            <a:avLst/>
          </a:prstGeom>
          <a:noFill/>
          <a:ln/>
        </p:spPr>
        <p:txBody>
          <a:bodyPr wrap="none" lIns="0" tIns="0" rIns="0" bIns="51054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00FF"/>
                </a:solidFill>
              </a:rPr>
              <a:t>Common Causes (The Mistake)</a:t>
            </a:r>
            <a:endParaRPr lang="en-US" sz="1397" dirty="0"/>
          </a:p>
        </p:txBody>
      </p:sp>
      <p:sp>
        <p:nvSpPr>
          <p:cNvPr id="8" name="Text 5"/>
          <p:cNvSpPr/>
          <p:nvPr/>
        </p:nvSpPr>
        <p:spPr>
          <a:xfrm>
            <a:off x="571500" y="2989659"/>
            <a:ext cx="76944" cy="218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69" dirty="0"/>
              <a:t>•</a:t>
            </a:r>
          </a:p>
        </p:txBody>
      </p:sp>
      <p:sp>
        <p:nvSpPr>
          <p:cNvPr id="9" name="Text 6"/>
          <p:cNvSpPr/>
          <p:nvPr/>
        </p:nvSpPr>
        <p:spPr>
          <a:xfrm>
            <a:off x="742950" y="2982516"/>
            <a:ext cx="1258358" cy="218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69" dirty="0"/>
              <a:t>Preprocessing the</a:t>
            </a:r>
          </a:p>
        </p:txBody>
      </p:sp>
      <p:sp>
        <p:nvSpPr>
          <p:cNvPr id="10" name="Text 7"/>
          <p:cNvSpPr/>
          <p:nvPr/>
        </p:nvSpPr>
        <p:spPr>
          <a:xfrm>
            <a:off x="2239900" y="2982516"/>
            <a:ext cx="968214" cy="215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dirty="0"/>
              <a:t>entire dataset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742950" y="3216474"/>
            <a:ext cx="3664939" cy="2182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69" dirty="0"/>
              <a:t>before split (e.g., scaling, imputing).</a:t>
            </a:r>
          </a:p>
        </p:txBody>
      </p:sp>
      <p:sp>
        <p:nvSpPr>
          <p:cNvPr id="12" name="Text 9"/>
          <p:cNvSpPr/>
          <p:nvPr/>
        </p:nvSpPr>
        <p:spPr>
          <a:xfrm>
            <a:off x="571500" y="3506856"/>
            <a:ext cx="76944" cy="218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69" dirty="0"/>
              <a:t>•</a:t>
            </a:r>
          </a:p>
        </p:txBody>
      </p:sp>
      <p:sp>
        <p:nvSpPr>
          <p:cNvPr id="13" name="Text 10"/>
          <p:cNvSpPr/>
          <p:nvPr/>
        </p:nvSpPr>
        <p:spPr>
          <a:xfrm>
            <a:off x="742950" y="3499712"/>
            <a:ext cx="2419701" cy="218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69" dirty="0"/>
              <a:t>Features that proxy the target (e.g.,</a:t>
            </a:r>
          </a:p>
        </p:txBody>
      </p:sp>
      <p:sp>
        <p:nvSpPr>
          <p:cNvPr id="14" name="Text 11"/>
          <p:cNvSpPr/>
          <p:nvPr/>
        </p:nvSpPr>
        <p:spPr>
          <a:xfrm>
            <a:off x="742950" y="3722591"/>
            <a:ext cx="965008" cy="215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dirty="0"/>
              <a:t>TransactionID</a:t>
            </a:r>
            <a:endParaRPr lang="en-US" sz="1193" dirty="0"/>
          </a:p>
        </p:txBody>
      </p:sp>
      <p:sp>
        <p:nvSpPr>
          <p:cNvPr id="15" name="Text 12"/>
          <p:cNvSpPr/>
          <p:nvPr/>
        </p:nvSpPr>
        <p:spPr>
          <a:xfrm>
            <a:off x="1940198" y="3722591"/>
            <a:ext cx="812723" cy="218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69" dirty="0"/>
              <a:t>leaks time).</a:t>
            </a:r>
          </a:p>
        </p:txBody>
      </p:sp>
      <p:sp>
        <p:nvSpPr>
          <p:cNvPr id="16" name="Text 13"/>
          <p:cNvSpPr/>
          <p:nvPr/>
        </p:nvSpPr>
        <p:spPr>
          <a:xfrm>
            <a:off x="571500" y="4024052"/>
            <a:ext cx="76944" cy="218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69" dirty="0"/>
              <a:t>•</a:t>
            </a:r>
          </a:p>
        </p:txBody>
      </p:sp>
      <p:sp>
        <p:nvSpPr>
          <p:cNvPr id="17" name="Text 14"/>
          <p:cNvSpPr/>
          <p:nvPr/>
        </p:nvSpPr>
        <p:spPr>
          <a:xfrm>
            <a:off x="742950" y="4016908"/>
            <a:ext cx="1219886" cy="218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69" dirty="0"/>
              <a:t>Time travel: using</a:t>
            </a:r>
          </a:p>
        </p:txBody>
      </p:sp>
      <p:sp>
        <p:nvSpPr>
          <p:cNvPr id="18" name="Text 15"/>
          <p:cNvSpPr/>
          <p:nvPr/>
        </p:nvSpPr>
        <p:spPr>
          <a:xfrm>
            <a:off x="2216404" y="4016908"/>
            <a:ext cx="767839" cy="215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dirty="0"/>
              <a:t>future data</a:t>
            </a:r>
            <a:endParaRPr lang="en-US" sz="1193" dirty="0"/>
          </a:p>
        </p:txBody>
      </p:sp>
      <p:sp>
        <p:nvSpPr>
          <p:cNvPr id="19" name="Text 16"/>
          <p:cNvSpPr/>
          <p:nvPr/>
        </p:nvSpPr>
        <p:spPr>
          <a:xfrm>
            <a:off x="3192838" y="4016908"/>
            <a:ext cx="46488" cy="218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69" dirty="0"/>
              <a:t>.</a:t>
            </a:r>
          </a:p>
        </p:txBody>
      </p:sp>
      <p:sp>
        <p:nvSpPr>
          <p:cNvPr id="20" name="Text 17"/>
          <p:cNvSpPr/>
          <p:nvPr/>
        </p:nvSpPr>
        <p:spPr>
          <a:xfrm>
            <a:off x="4714875" y="2594967"/>
            <a:ext cx="3857625" cy="323255"/>
          </a:xfrm>
          <a:prstGeom prst="rect">
            <a:avLst/>
          </a:prstGeom>
          <a:noFill/>
          <a:ln/>
        </p:spPr>
        <p:txBody>
          <a:bodyPr wrap="none" lIns="0" tIns="0" rIns="0" bIns="51054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FFFF"/>
                </a:solidFill>
              </a:rPr>
              <a:t>Prevention (The Fix)</a:t>
            </a:r>
            <a:endParaRPr lang="en-US" sz="1397" dirty="0"/>
          </a:p>
        </p:txBody>
      </p:sp>
      <p:sp>
        <p:nvSpPr>
          <p:cNvPr id="21" name="Text 18"/>
          <p:cNvSpPr/>
          <p:nvPr/>
        </p:nvSpPr>
        <p:spPr>
          <a:xfrm>
            <a:off x="4714875" y="2989659"/>
            <a:ext cx="76944" cy="218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69" dirty="0"/>
              <a:t>•</a:t>
            </a:r>
          </a:p>
        </p:txBody>
      </p:sp>
      <p:sp>
        <p:nvSpPr>
          <p:cNvPr id="22" name="Text 19"/>
          <p:cNvSpPr/>
          <p:nvPr/>
        </p:nvSpPr>
        <p:spPr>
          <a:xfrm>
            <a:off x="4886325" y="2982516"/>
            <a:ext cx="899285" cy="215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dirty="0"/>
              <a:t>Golden Rule:</a:t>
            </a:r>
            <a:endParaRPr lang="en-US" sz="1193" dirty="0"/>
          </a:p>
        </p:txBody>
      </p:sp>
      <p:sp>
        <p:nvSpPr>
          <p:cNvPr id="23" name="Text 20"/>
          <p:cNvSpPr/>
          <p:nvPr/>
        </p:nvSpPr>
        <p:spPr>
          <a:xfrm>
            <a:off x="5964250" y="2982516"/>
            <a:ext cx="1146148" cy="218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69" dirty="0"/>
              <a:t>Split Data FIRST.</a:t>
            </a:r>
          </a:p>
        </p:txBody>
      </p:sp>
      <p:sp>
        <p:nvSpPr>
          <p:cNvPr id="24" name="Text 21"/>
          <p:cNvSpPr/>
          <p:nvPr/>
        </p:nvSpPr>
        <p:spPr>
          <a:xfrm>
            <a:off x="4714875" y="3283976"/>
            <a:ext cx="76944" cy="218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69" dirty="0"/>
              <a:t>•</a:t>
            </a:r>
          </a:p>
        </p:txBody>
      </p:sp>
      <p:sp>
        <p:nvSpPr>
          <p:cNvPr id="25" name="Text 22"/>
          <p:cNvSpPr/>
          <p:nvPr/>
        </p:nvSpPr>
        <p:spPr>
          <a:xfrm>
            <a:off x="4886325" y="3276833"/>
            <a:ext cx="2037033" cy="218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69" dirty="0"/>
              <a:t>Fit scalers/imputers ONLY on</a:t>
            </a:r>
          </a:p>
        </p:txBody>
      </p:sp>
      <p:sp>
        <p:nvSpPr>
          <p:cNvPr id="26" name="Text 23"/>
          <p:cNvSpPr/>
          <p:nvPr/>
        </p:nvSpPr>
        <p:spPr>
          <a:xfrm>
            <a:off x="7261092" y="3276833"/>
            <a:ext cx="320601" cy="215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dirty="0"/>
              <a:t>train</a:t>
            </a:r>
            <a:endParaRPr lang="en-US" sz="1193" dirty="0"/>
          </a:p>
        </p:txBody>
      </p:sp>
      <p:sp>
        <p:nvSpPr>
          <p:cNvPr id="27" name="Text 24"/>
          <p:cNvSpPr/>
          <p:nvPr/>
        </p:nvSpPr>
        <p:spPr>
          <a:xfrm>
            <a:off x="7678415" y="3276833"/>
            <a:ext cx="46488" cy="218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69" dirty="0"/>
              <a:t>.</a:t>
            </a:r>
          </a:p>
        </p:txBody>
      </p:sp>
      <p:sp>
        <p:nvSpPr>
          <p:cNvPr id="28" name="Text 25"/>
          <p:cNvSpPr/>
          <p:nvPr/>
        </p:nvSpPr>
        <p:spPr>
          <a:xfrm>
            <a:off x="4714875" y="3578293"/>
            <a:ext cx="76944" cy="218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69" dirty="0"/>
              <a:t>•</a:t>
            </a:r>
          </a:p>
        </p:txBody>
      </p:sp>
      <p:sp>
        <p:nvSpPr>
          <p:cNvPr id="29" name="Text 26"/>
          <p:cNvSpPr/>
          <p:nvPr/>
        </p:nvSpPr>
        <p:spPr>
          <a:xfrm>
            <a:off x="4886325" y="3571149"/>
            <a:ext cx="2586542" cy="218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69" dirty="0"/>
              <a:t>Transform test using training params.</a:t>
            </a:r>
          </a:p>
        </p:txBody>
      </p:sp>
      <p:sp>
        <p:nvSpPr>
          <p:cNvPr id="30" name="Text 27"/>
          <p:cNvSpPr/>
          <p:nvPr/>
        </p:nvSpPr>
        <p:spPr>
          <a:xfrm>
            <a:off x="4714875" y="3872610"/>
            <a:ext cx="76944" cy="218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69" dirty="0"/>
              <a:t>•</a:t>
            </a:r>
          </a:p>
        </p:txBody>
      </p:sp>
      <p:sp>
        <p:nvSpPr>
          <p:cNvPr id="31" name="Text 28"/>
          <p:cNvSpPr/>
          <p:nvPr/>
        </p:nvSpPr>
        <p:spPr>
          <a:xfrm>
            <a:off x="4886325" y="3865466"/>
            <a:ext cx="937757" cy="218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69" dirty="0"/>
              <a:t>Sanity check:</a:t>
            </a:r>
          </a:p>
        </p:txBody>
      </p:sp>
      <p:sp>
        <p:nvSpPr>
          <p:cNvPr id="32" name="Text 29"/>
          <p:cNvSpPr/>
          <p:nvPr/>
        </p:nvSpPr>
        <p:spPr>
          <a:xfrm>
            <a:off x="5970082" y="3865466"/>
            <a:ext cx="1123706" cy="215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dirty="0"/>
              <a:t>100% accuracy?</a:t>
            </a:r>
            <a:endParaRPr lang="en-US" sz="1193" dirty="0"/>
          </a:p>
        </p:txBody>
      </p:sp>
      <p:sp>
        <p:nvSpPr>
          <p:cNvPr id="33" name="Text 30"/>
          <p:cNvSpPr/>
          <p:nvPr/>
        </p:nvSpPr>
        <p:spPr>
          <a:xfrm>
            <a:off x="7304652" y="3865466"/>
            <a:ext cx="1022075" cy="218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69" dirty="0"/>
              <a:t>Be suspicious.</a:t>
            </a:r>
          </a:p>
        </p:txBody>
      </p:sp>
      <p:sp>
        <p:nvSpPr>
          <p:cNvPr id="34" name="Shape 31"/>
          <p:cNvSpPr/>
          <p:nvPr/>
        </p:nvSpPr>
        <p:spPr>
          <a:xfrm>
            <a:off x="571500" y="4679156"/>
            <a:ext cx="8001000" cy="25003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571500" y="4845918"/>
            <a:ext cx="421590" cy="112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/>
              <a:t>Module 04</a:t>
            </a:r>
          </a:p>
        </p:txBody>
      </p:sp>
      <p:sp>
        <p:nvSpPr>
          <p:cNvPr id="38" name="Text 29">
            <a:extLst>
              <a:ext uri="{FF2B5EF4-FFF2-40B4-BE49-F238E27FC236}">
                <a16:creationId xmlns:a16="http://schemas.microsoft.com/office/drawing/2014/main" id="{7829C3A3-2D4E-2709-69F9-49353921513B}"/>
              </a:ext>
            </a:extLst>
          </p:cNvPr>
          <p:cNvSpPr/>
          <p:nvPr/>
        </p:nvSpPr>
        <p:spPr>
          <a:xfrm>
            <a:off x="6144295" y="4845918"/>
            <a:ext cx="2087110" cy="112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/>
              <a:t>Working with Data &amp; EDA (2026 Edition) • Classic ML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428625"/>
            <a:ext cx="8001000" cy="5447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00FFFF"/>
                </a:solidFill>
              </a:rPr>
              <a:t>Tools for EDA</a:t>
            </a:r>
            <a:endParaRPr lang="en-US" sz="2862" dirty="0"/>
          </a:p>
        </p:txBody>
      </p:sp>
      <p:sp>
        <p:nvSpPr>
          <p:cNvPr id="4" name="Text 1"/>
          <p:cNvSpPr/>
          <p:nvPr/>
        </p:nvSpPr>
        <p:spPr>
          <a:xfrm>
            <a:off x="571500" y="877125"/>
            <a:ext cx="1849865" cy="235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 dirty="0"/>
              <a:t>The Python Ecosystem</a:t>
            </a:r>
          </a:p>
        </p:txBody>
      </p:sp>
      <p:sp>
        <p:nvSpPr>
          <p:cNvPr id="5" name="Text 2"/>
          <p:cNvSpPr/>
          <p:nvPr/>
        </p:nvSpPr>
        <p:spPr>
          <a:xfrm>
            <a:off x="742950" y="1112639"/>
            <a:ext cx="690895" cy="2685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/>
              <a:t>Pandas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742950" y="1460897"/>
            <a:ext cx="3614738" cy="408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9" dirty="0"/>
              <a:t>The backbone of data manipulation. Great for quick checks and basic plots.</a:t>
            </a:r>
          </a:p>
        </p:txBody>
      </p:sp>
      <p:sp>
        <p:nvSpPr>
          <p:cNvPr id="7" name="Shape 4"/>
          <p:cNvSpPr/>
          <p:nvPr/>
        </p:nvSpPr>
        <p:spPr>
          <a:xfrm>
            <a:off x="742950" y="1940923"/>
            <a:ext cx="1396212" cy="232172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42950" y="1940923"/>
            <a:ext cx="1396212" cy="232172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00FF00"/>
                </a:solidFill>
              </a:rPr>
              <a:t>df.describe(), df.plot()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742950" y="2265920"/>
            <a:ext cx="962123" cy="2685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/>
              <a:t>Matplotlib</a:t>
            </a:r>
            <a:endParaRPr lang="en-US" sz="1602" dirty="0"/>
          </a:p>
        </p:txBody>
      </p:sp>
      <p:sp>
        <p:nvSpPr>
          <p:cNvPr id="10" name="Text 7"/>
          <p:cNvSpPr/>
          <p:nvPr/>
        </p:nvSpPr>
        <p:spPr>
          <a:xfrm>
            <a:off x="742950" y="2614178"/>
            <a:ext cx="3614738" cy="408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9" dirty="0"/>
              <a:t>The foundation. Powerful and customizable, but verbose code.</a:t>
            </a:r>
          </a:p>
        </p:txBody>
      </p:sp>
      <p:sp>
        <p:nvSpPr>
          <p:cNvPr id="11" name="Shape 8"/>
          <p:cNvSpPr/>
          <p:nvPr/>
        </p:nvSpPr>
        <p:spPr>
          <a:xfrm>
            <a:off x="742950" y="3094204"/>
            <a:ext cx="1088361" cy="232172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42950" y="3094204"/>
            <a:ext cx="1088361" cy="232172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00FF00"/>
                </a:solidFill>
              </a:rPr>
              <a:t>plt.hist(df['age'])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742950" y="3466430"/>
            <a:ext cx="782265" cy="2685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/>
              <a:t>Seaborn</a:t>
            </a:r>
            <a:endParaRPr lang="en-US" sz="1602" dirty="0"/>
          </a:p>
        </p:txBody>
      </p:sp>
      <p:sp>
        <p:nvSpPr>
          <p:cNvPr id="14" name="Text 11"/>
          <p:cNvSpPr/>
          <p:nvPr/>
        </p:nvSpPr>
        <p:spPr>
          <a:xfrm>
            <a:off x="742950" y="3814688"/>
            <a:ext cx="3614738" cy="408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9" dirty="0"/>
              <a:t>High-level interface for statistical graphics. Beautiful defaults.</a:t>
            </a:r>
          </a:p>
        </p:txBody>
      </p:sp>
      <p:sp>
        <p:nvSpPr>
          <p:cNvPr id="15" name="Shape 12"/>
          <p:cNvSpPr/>
          <p:nvPr/>
        </p:nvSpPr>
        <p:spPr>
          <a:xfrm>
            <a:off x="742950" y="4294715"/>
            <a:ext cx="1851543" cy="232172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42950" y="4294715"/>
            <a:ext cx="1851543" cy="232172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00FF00"/>
                </a:solidFill>
              </a:rPr>
              <a:t>sns.boxplot(x='class', y='age')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4957763" y="1265783"/>
            <a:ext cx="538609" cy="2685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/>
              <a:t>Plotly</a:t>
            </a:r>
            <a:endParaRPr lang="en-US" sz="1602" dirty="0"/>
          </a:p>
        </p:txBody>
      </p:sp>
      <p:sp>
        <p:nvSpPr>
          <p:cNvPr id="18" name="Text 15"/>
          <p:cNvSpPr/>
          <p:nvPr/>
        </p:nvSpPr>
        <p:spPr>
          <a:xfrm>
            <a:off x="4957763" y="1614041"/>
            <a:ext cx="3614738" cy="195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9" dirty="0"/>
              <a:t>Interactive visualizations. Great for exploring dense data.</a:t>
            </a:r>
          </a:p>
        </p:txBody>
      </p:sp>
      <p:sp>
        <p:nvSpPr>
          <p:cNvPr id="19" name="Shape 16"/>
          <p:cNvSpPr/>
          <p:nvPr/>
        </p:nvSpPr>
        <p:spPr>
          <a:xfrm>
            <a:off x="4957763" y="1871072"/>
            <a:ext cx="1580862" cy="232172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957763" y="1871072"/>
            <a:ext cx="1580862" cy="232172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00FF00"/>
                </a:solidFill>
              </a:rPr>
              <a:t>px.scatter(df, x='a', y='b')</a:t>
            </a:r>
            <a:endParaRPr lang="en-US" sz="942" dirty="0"/>
          </a:p>
        </p:txBody>
      </p:sp>
      <p:sp>
        <p:nvSpPr>
          <p:cNvPr id="21" name="Text 18"/>
          <p:cNvSpPr/>
          <p:nvPr/>
        </p:nvSpPr>
        <p:spPr>
          <a:xfrm>
            <a:off x="4957763" y="2315970"/>
            <a:ext cx="1421864" cy="2685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/>
              <a:t>Auto-EDA Tools</a:t>
            </a:r>
            <a:endParaRPr lang="en-US" sz="1602" dirty="0"/>
          </a:p>
        </p:txBody>
      </p:sp>
      <p:sp>
        <p:nvSpPr>
          <p:cNvPr id="22" name="Text 19"/>
          <p:cNvSpPr/>
          <p:nvPr/>
        </p:nvSpPr>
        <p:spPr>
          <a:xfrm>
            <a:off x="4957763" y="2664228"/>
            <a:ext cx="3614738" cy="408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9" dirty="0"/>
              <a:t>Generate comprehensive reports in one line of code. (Sweetviz, YData Profiling)</a:t>
            </a:r>
          </a:p>
        </p:txBody>
      </p:sp>
      <p:sp>
        <p:nvSpPr>
          <p:cNvPr id="23" name="Shape 20"/>
          <p:cNvSpPr/>
          <p:nvPr/>
        </p:nvSpPr>
        <p:spPr>
          <a:xfrm>
            <a:off x="4957763" y="3144254"/>
            <a:ext cx="1649006" cy="232172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957763" y="3144254"/>
            <a:ext cx="1649006" cy="232172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00FF00"/>
                </a:solidFill>
              </a:rPr>
              <a:t>profile = ProfileReport(df)</a:t>
            </a:r>
            <a:endParaRPr lang="en-US" sz="942" dirty="0"/>
          </a:p>
        </p:txBody>
      </p:sp>
      <p:sp>
        <p:nvSpPr>
          <p:cNvPr id="27" name="Text 24"/>
          <p:cNvSpPr/>
          <p:nvPr/>
        </p:nvSpPr>
        <p:spPr>
          <a:xfrm>
            <a:off x="571500" y="4850293"/>
            <a:ext cx="421590" cy="112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/>
              <a:t>Module 04</a:t>
            </a:r>
          </a:p>
        </p:txBody>
      </p:sp>
      <p:sp>
        <p:nvSpPr>
          <p:cNvPr id="29" name="Text 29">
            <a:extLst>
              <a:ext uri="{FF2B5EF4-FFF2-40B4-BE49-F238E27FC236}">
                <a16:creationId xmlns:a16="http://schemas.microsoft.com/office/drawing/2014/main" id="{D0BDB7C8-60E6-8775-66C4-31872471B2E7}"/>
              </a:ext>
            </a:extLst>
          </p:cNvPr>
          <p:cNvSpPr/>
          <p:nvPr/>
        </p:nvSpPr>
        <p:spPr>
          <a:xfrm>
            <a:off x="6144295" y="4850293"/>
            <a:ext cx="2087110" cy="112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/>
              <a:t>Working with Data &amp; EDA (2026 Edition) • Classic ML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428625"/>
            <a:ext cx="3158622" cy="4671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dirty="0">
                <a:solidFill>
                  <a:schemeClr val="accent1"/>
                </a:solidFill>
              </a:rPr>
              <a:t>EDA Best Practices</a:t>
            </a:r>
            <a:endParaRPr lang="en-US" sz="2862" dirty="0">
              <a:solidFill>
                <a:schemeClr val="accent1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1330523"/>
            <a:ext cx="39229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00FFFF"/>
                </a:solidFill>
              </a:rPr>
              <a:t>01</a:t>
            </a:r>
            <a:endParaRPr lang="en-US" sz="2436" dirty="0"/>
          </a:p>
        </p:txBody>
      </p:sp>
      <p:sp>
        <p:nvSpPr>
          <p:cNvPr id="5" name="Text 2"/>
          <p:cNvSpPr/>
          <p:nvPr/>
        </p:nvSpPr>
        <p:spPr>
          <a:xfrm>
            <a:off x="1070949" y="1387673"/>
            <a:ext cx="1157048" cy="2685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/>
              <a:t>Start Simple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571500" y="1807369"/>
            <a:ext cx="3786188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/>
              <a:t>Always begin with </a:t>
            </a:r>
            <a:r>
              <a:rPr lang="en-US" sz="1269" dirty="0">
                <a:solidFill>
                  <a:srgbClr val="FF00FF"/>
                </a:solidFill>
              </a:rPr>
              <a:t>Univariate Analysis</a:t>
            </a:r>
            <a:r>
              <a:rPr lang="en-US" sz="1269" dirty="0"/>
              <a:t>. Understand each variable in isolation before looking for complex relationships</a:t>
            </a:r>
            <a:r>
              <a:rPr lang="en-US" sz="1269" dirty="0">
                <a:solidFill>
                  <a:srgbClr val="CCCCCC"/>
                </a:solidFill>
              </a:rPr>
              <a:t>.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4786313" y="1330523"/>
            <a:ext cx="39229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00FFFF"/>
                </a:solidFill>
              </a:rPr>
              <a:t>02</a:t>
            </a:r>
            <a:endParaRPr lang="en-US" sz="2436" dirty="0"/>
          </a:p>
        </p:txBody>
      </p:sp>
      <p:sp>
        <p:nvSpPr>
          <p:cNvPr id="8" name="Text 5"/>
          <p:cNvSpPr/>
          <p:nvPr/>
        </p:nvSpPr>
        <p:spPr>
          <a:xfrm>
            <a:off x="5285761" y="1387673"/>
            <a:ext cx="1300164" cy="2685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/>
              <a:t>Visualize First</a:t>
            </a:r>
            <a:endParaRPr lang="en-US" sz="1602" dirty="0"/>
          </a:p>
        </p:txBody>
      </p:sp>
      <p:sp>
        <p:nvSpPr>
          <p:cNvPr id="9" name="Text 6"/>
          <p:cNvSpPr/>
          <p:nvPr/>
        </p:nvSpPr>
        <p:spPr>
          <a:xfrm>
            <a:off x="4786313" y="1807369"/>
            <a:ext cx="3786188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/>
              <a:t>Never trust summary statistics alone. Mean and variance can hide distributions (e.g., Anscombe's Quartet). </a:t>
            </a:r>
            <a:r>
              <a:rPr lang="en-US" sz="1269" dirty="0">
                <a:solidFill>
                  <a:srgbClr val="FF00FF"/>
                </a:solidFill>
              </a:rPr>
              <a:t>Plot the data.</a:t>
            </a:r>
            <a:endParaRPr lang="en-US" sz="1269" dirty="0"/>
          </a:p>
        </p:txBody>
      </p:sp>
      <p:sp>
        <p:nvSpPr>
          <p:cNvPr id="10" name="Text 7"/>
          <p:cNvSpPr/>
          <p:nvPr/>
        </p:nvSpPr>
        <p:spPr>
          <a:xfrm>
            <a:off x="571500" y="2875608"/>
            <a:ext cx="39229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00FFFF"/>
                </a:solidFill>
              </a:rPr>
              <a:t>03</a:t>
            </a:r>
            <a:endParaRPr lang="en-US" sz="2436" dirty="0"/>
          </a:p>
        </p:txBody>
      </p:sp>
      <p:sp>
        <p:nvSpPr>
          <p:cNvPr id="11" name="Text 8"/>
          <p:cNvSpPr/>
          <p:nvPr/>
        </p:nvSpPr>
        <p:spPr>
          <a:xfrm>
            <a:off x="1070949" y="2932758"/>
            <a:ext cx="1768113" cy="2685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/>
              <a:t>Document Insights</a:t>
            </a:r>
            <a:endParaRPr lang="en-US" sz="1602" dirty="0"/>
          </a:p>
        </p:txBody>
      </p:sp>
      <p:sp>
        <p:nvSpPr>
          <p:cNvPr id="12" name="Text 9"/>
          <p:cNvSpPr/>
          <p:nvPr/>
        </p:nvSpPr>
        <p:spPr>
          <a:xfrm>
            <a:off x="571500" y="3352453"/>
            <a:ext cx="3786188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/>
              <a:t>Don't just write code. Use Markdown cells to record </a:t>
            </a:r>
            <a:r>
              <a:rPr lang="en-US" sz="1269" dirty="0">
                <a:solidFill>
                  <a:srgbClr val="FF00FF"/>
                </a:solidFill>
              </a:rPr>
              <a:t>what you see</a:t>
            </a:r>
            <a:r>
              <a:rPr lang="en-US" sz="1269" dirty="0"/>
              <a:t>, what it implies, and what questions it raises.</a:t>
            </a:r>
          </a:p>
        </p:txBody>
      </p:sp>
      <p:sp>
        <p:nvSpPr>
          <p:cNvPr id="13" name="Text 10"/>
          <p:cNvSpPr/>
          <p:nvPr/>
        </p:nvSpPr>
        <p:spPr>
          <a:xfrm>
            <a:off x="4786313" y="2875608"/>
            <a:ext cx="39229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00FFFF"/>
                </a:solidFill>
              </a:rPr>
              <a:t>04</a:t>
            </a:r>
            <a:endParaRPr lang="en-US" sz="2436" dirty="0"/>
          </a:p>
        </p:txBody>
      </p:sp>
      <p:sp>
        <p:nvSpPr>
          <p:cNvPr id="14" name="Text 11"/>
          <p:cNvSpPr/>
          <p:nvPr/>
        </p:nvSpPr>
        <p:spPr>
          <a:xfrm>
            <a:off x="5285761" y="2932758"/>
            <a:ext cx="1425968" cy="2685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/>
              <a:t>Reproducibility</a:t>
            </a:r>
            <a:endParaRPr lang="en-US" sz="1602" dirty="0"/>
          </a:p>
        </p:txBody>
      </p:sp>
      <p:sp>
        <p:nvSpPr>
          <p:cNvPr id="15" name="Text 12"/>
          <p:cNvSpPr/>
          <p:nvPr/>
        </p:nvSpPr>
        <p:spPr>
          <a:xfrm>
            <a:off x="4786313" y="3352453"/>
            <a:ext cx="3786188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/>
              <a:t>Ensure your analysis is a linear, runnable script or notebook. Avoid manual edits in Excel. Your future self will thank you.</a:t>
            </a:r>
          </a:p>
        </p:txBody>
      </p:sp>
      <p:sp>
        <p:nvSpPr>
          <p:cNvPr id="16" name="Shape 13"/>
          <p:cNvSpPr/>
          <p:nvPr/>
        </p:nvSpPr>
        <p:spPr>
          <a:xfrm>
            <a:off x="571500" y="4679156"/>
            <a:ext cx="8001000" cy="25003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71500" y="4845918"/>
            <a:ext cx="421590" cy="112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/>
              <a:t>Module 04</a:t>
            </a:r>
          </a:p>
        </p:txBody>
      </p:sp>
      <p:sp>
        <p:nvSpPr>
          <p:cNvPr id="20" name="Text 29">
            <a:extLst>
              <a:ext uri="{FF2B5EF4-FFF2-40B4-BE49-F238E27FC236}">
                <a16:creationId xmlns:a16="http://schemas.microsoft.com/office/drawing/2014/main" id="{99DD1EA3-66C2-FD34-49F2-127CC917851B}"/>
              </a:ext>
            </a:extLst>
          </p:cNvPr>
          <p:cNvSpPr/>
          <p:nvPr/>
        </p:nvSpPr>
        <p:spPr>
          <a:xfrm>
            <a:off x="6144295" y="4845918"/>
            <a:ext cx="2087110" cy="112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/>
              <a:t>Working with Data &amp; EDA (2026 Edition) • Classic ML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428625"/>
            <a:ext cx="5433347" cy="4671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dirty="0">
                <a:solidFill>
                  <a:schemeClr val="accent1"/>
                </a:solidFill>
              </a:rPr>
              <a:t>From EDA to Feature Engineering</a:t>
            </a:r>
            <a:endParaRPr lang="en-US" sz="2862" dirty="0">
              <a:solidFill>
                <a:schemeClr val="accent1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915416"/>
            <a:ext cx="7452209" cy="479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 dirty="0"/>
              <a:t>EDA is not just about observation. It is the blueprint for how you will transform your data for the model.</a:t>
            </a:r>
          </a:p>
        </p:txBody>
      </p:sp>
      <p:sp>
        <p:nvSpPr>
          <p:cNvPr id="5" name="Shape 2"/>
          <p:cNvSpPr/>
          <p:nvPr/>
        </p:nvSpPr>
        <p:spPr>
          <a:xfrm>
            <a:off x="571500" y="1462633"/>
            <a:ext cx="8001000" cy="61882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71500" y="1462633"/>
            <a:ext cx="42863" cy="618828"/>
          </a:xfrm>
          <a:prstGeom prst="rect">
            <a:avLst/>
          </a:prstGeom>
          <a:solidFill>
            <a:srgbClr val="00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85813" y="1559967"/>
            <a:ext cx="34290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kern="0" spc="1" dirty="0">
                <a:solidFill>
                  <a:srgbClr val="00FFFF"/>
                </a:solidFill>
              </a:rPr>
              <a:t>EDA Insight</a:t>
            </a:r>
            <a:endParaRPr lang="en-US" sz="727" dirty="0"/>
          </a:p>
        </p:txBody>
      </p:sp>
      <p:sp>
        <p:nvSpPr>
          <p:cNvPr id="8" name="Text 5"/>
          <p:cNvSpPr/>
          <p:nvPr/>
        </p:nvSpPr>
        <p:spPr>
          <a:xfrm>
            <a:off x="785813" y="1741498"/>
            <a:ext cx="2637662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77" dirty="0">
                <a:solidFill>
                  <a:srgbClr val="FFFFFF"/>
                </a:solidFill>
              </a:rPr>
              <a:t>"Date" column is a string object</a:t>
            </a:r>
            <a:endParaRPr lang="en-US" sz="1377" dirty="0"/>
          </a:p>
        </p:txBody>
      </p:sp>
      <p:sp>
        <p:nvSpPr>
          <p:cNvPr id="9" name="Text 6"/>
          <p:cNvSpPr/>
          <p:nvPr/>
        </p:nvSpPr>
        <p:spPr>
          <a:xfrm>
            <a:off x="4214813" y="1645692"/>
            <a:ext cx="714375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45" dirty="0">
                <a:solidFill>
                  <a:srgbClr val="666666"/>
                </a:solidFill>
              </a:rPr>
              <a:t>→</a:t>
            </a:r>
            <a:endParaRPr lang="en-US" sz="2145" dirty="0"/>
          </a:p>
        </p:txBody>
      </p:sp>
      <p:sp>
        <p:nvSpPr>
          <p:cNvPr id="10" name="Text 7"/>
          <p:cNvSpPr/>
          <p:nvPr/>
        </p:nvSpPr>
        <p:spPr>
          <a:xfrm>
            <a:off x="4929188" y="1564277"/>
            <a:ext cx="34290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FF00FF"/>
                </a:solidFill>
              </a:rPr>
              <a:t>Action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4929188" y="1735727"/>
            <a:ext cx="2321551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FFFFFF"/>
                </a:solidFill>
              </a:rPr>
              <a:t>Extract Year, Month, Day,</a:t>
            </a:r>
            <a:endParaRPr lang="en-US" sz="1295" dirty="0"/>
          </a:p>
        </p:txBody>
      </p:sp>
      <p:sp>
        <p:nvSpPr>
          <p:cNvPr id="12" name="Text 9"/>
          <p:cNvSpPr/>
          <p:nvPr/>
        </p:nvSpPr>
        <p:spPr>
          <a:xfrm>
            <a:off x="7191857" y="1731292"/>
            <a:ext cx="1100891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FFFFFF"/>
                </a:solidFill>
              </a:rPr>
              <a:t>Is_Weekend</a:t>
            </a:r>
            <a:endParaRPr lang="en-US" sz="1295" dirty="0"/>
          </a:p>
        </p:txBody>
      </p:sp>
      <p:sp>
        <p:nvSpPr>
          <p:cNvPr id="13" name="Shape 10"/>
          <p:cNvSpPr/>
          <p:nvPr/>
        </p:nvSpPr>
        <p:spPr>
          <a:xfrm>
            <a:off x="571500" y="2149995"/>
            <a:ext cx="8001000" cy="709017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71500" y="2149995"/>
            <a:ext cx="42863" cy="709017"/>
          </a:xfrm>
          <a:prstGeom prst="rect">
            <a:avLst/>
          </a:prstGeom>
          <a:solidFill>
            <a:srgbClr val="FF0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85813" y="2292870"/>
            <a:ext cx="34290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kern="0" spc="1" dirty="0">
                <a:solidFill>
                  <a:srgbClr val="00FFFF"/>
                </a:solidFill>
              </a:rPr>
              <a:t>EDA Insight</a:t>
            </a:r>
            <a:endParaRPr lang="en-US" sz="727" dirty="0"/>
          </a:p>
        </p:txBody>
      </p:sp>
      <p:sp>
        <p:nvSpPr>
          <p:cNvPr id="16" name="Text 13"/>
          <p:cNvSpPr/>
          <p:nvPr/>
        </p:nvSpPr>
        <p:spPr>
          <a:xfrm>
            <a:off x="785813" y="2464320"/>
            <a:ext cx="2649382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77" dirty="0">
                <a:solidFill>
                  <a:srgbClr val="FFFFFF"/>
                </a:solidFill>
              </a:rPr>
              <a:t>Target variable is highly skewed</a:t>
            </a:r>
            <a:endParaRPr lang="en-US" sz="1377" dirty="0"/>
          </a:p>
        </p:txBody>
      </p:sp>
      <p:sp>
        <p:nvSpPr>
          <p:cNvPr id="17" name="Text 14"/>
          <p:cNvSpPr/>
          <p:nvPr/>
        </p:nvSpPr>
        <p:spPr>
          <a:xfrm>
            <a:off x="4214813" y="2297335"/>
            <a:ext cx="714375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45" dirty="0">
                <a:solidFill>
                  <a:srgbClr val="666666"/>
                </a:solidFill>
              </a:rPr>
              <a:t>→</a:t>
            </a:r>
            <a:endParaRPr lang="en-US" sz="2145" dirty="0"/>
          </a:p>
        </p:txBody>
      </p:sp>
      <p:sp>
        <p:nvSpPr>
          <p:cNvPr id="18" name="Text 15"/>
          <p:cNvSpPr/>
          <p:nvPr/>
        </p:nvSpPr>
        <p:spPr>
          <a:xfrm>
            <a:off x="4929188" y="2292870"/>
            <a:ext cx="34290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FF00FF"/>
                </a:solidFill>
              </a:rPr>
              <a:t>Action</a:t>
            </a:r>
            <a:endParaRPr lang="en-US" sz="683" dirty="0"/>
          </a:p>
        </p:txBody>
      </p:sp>
      <p:sp>
        <p:nvSpPr>
          <p:cNvPr id="19" name="Text 16"/>
          <p:cNvSpPr/>
          <p:nvPr/>
        </p:nvSpPr>
        <p:spPr>
          <a:xfrm>
            <a:off x="4929188" y="2464320"/>
            <a:ext cx="2405128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FFFFFF"/>
                </a:solidFill>
              </a:rPr>
              <a:t>Apply Log Transformation</a:t>
            </a:r>
            <a:endParaRPr lang="en-US" sz="1295" dirty="0"/>
          </a:p>
        </p:txBody>
      </p:sp>
      <p:sp>
        <p:nvSpPr>
          <p:cNvPr id="20" name="Shape 17"/>
          <p:cNvSpPr/>
          <p:nvPr/>
        </p:nvSpPr>
        <p:spPr>
          <a:xfrm>
            <a:off x="571500" y="2930449"/>
            <a:ext cx="8001000" cy="709017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571500" y="2930449"/>
            <a:ext cx="42863" cy="709017"/>
          </a:xfrm>
          <a:prstGeom prst="rect">
            <a:avLst/>
          </a:prstGeom>
          <a:solidFill>
            <a:srgbClr val="00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85813" y="3073324"/>
            <a:ext cx="34290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kern="0" spc="1" dirty="0">
                <a:solidFill>
                  <a:srgbClr val="00FFFF"/>
                </a:solidFill>
              </a:rPr>
              <a:t>EDA Insight</a:t>
            </a:r>
            <a:endParaRPr lang="en-US" sz="727" dirty="0"/>
          </a:p>
        </p:txBody>
      </p:sp>
      <p:sp>
        <p:nvSpPr>
          <p:cNvPr id="23" name="Text 20"/>
          <p:cNvSpPr/>
          <p:nvPr/>
        </p:nvSpPr>
        <p:spPr>
          <a:xfrm>
            <a:off x="785813" y="3244774"/>
            <a:ext cx="3323406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77" dirty="0">
                <a:solidFill>
                  <a:srgbClr val="FFFFFF"/>
                </a:solidFill>
              </a:rPr>
              <a:t>"Cabin" column has 70% missing values</a:t>
            </a:r>
            <a:endParaRPr lang="en-US" sz="1377" dirty="0"/>
          </a:p>
        </p:txBody>
      </p:sp>
      <p:sp>
        <p:nvSpPr>
          <p:cNvPr id="24" name="Text 21"/>
          <p:cNvSpPr/>
          <p:nvPr/>
        </p:nvSpPr>
        <p:spPr>
          <a:xfrm>
            <a:off x="4214813" y="3077789"/>
            <a:ext cx="714375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45" dirty="0">
                <a:solidFill>
                  <a:srgbClr val="666666"/>
                </a:solidFill>
              </a:rPr>
              <a:t>→</a:t>
            </a:r>
            <a:endParaRPr lang="en-US" sz="2145" dirty="0"/>
          </a:p>
        </p:txBody>
      </p:sp>
      <p:sp>
        <p:nvSpPr>
          <p:cNvPr id="25" name="Text 22"/>
          <p:cNvSpPr/>
          <p:nvPr/>
        </p:nvSpPr>
        <p:spPr>
          <a:xfrm>
            <a:off x="4929188" y="3073324"/>
            <a:ext cx="34290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FF00FF"/>
                </a:solidFill>
              </a:rPr>
              <a:t>Action</a:t>
            </a:r>
            <a:endParaRPr lang="en-US" sz="683" dirty="0"/>
          </a:p>
        </p:txBody>
      </p:sp>
      <p:sp>
        <p:nvSpPr>
          <p:cNvPr id="26" name="Text 23"/>
          <p:cNvSpPr/>
          <p:nvPr/>
        </p:nvSpPr>
        <p:spPr>
          <a:xfrm>
            <a:off x="4929188" y="3244774"/>
            <a:ext cx="2836041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FFFFFF"/>
                </a:solidFill>
              </a:rPr>
              <a:t>Create binary flag "Has_Cabin"</a:t>
            </a:r>
            <a:endParaRPr lang="en-US" sz="1295" dirty="0"/>
          </a:p>
        </p:txBody>
      </p:sp>
      <p:sp>
        <p:nvSpPr>
          <p:cNvPr id="27" name="Shape 24"/>
          <p:cNvSpPr/>
          <p:nvPr/>
        </p:nvSpPr>
        <p:spPr>
          <a:xfrm>
            <a:off x="571500" y="3710904"/>
            <a:ext cx="8001000" cy="879016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571500" y="3710904"/>
            <a:ext cx="42863" cy="879016"/>
          </a:xfrm>
          <a:prstGeom prst="rect">
            <a:avLst/>
          </a:prstGeom>
          <a:solidFill>
            <a:srgbClr val="FF0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785813" y="3979688"/>
            <a:ext cx="34290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kern="0" spc="1" dirty="0">
                <a:solidFill>
                  <a:srgbClr val="00FFFF"/>
                </a:solidFill>
              </a:rPr>
              <a:t>EDA Insight</a:t>
            </a:r>
            <a:endParaRPr lang="en-US" sz="727" dirty="0"/>
          </a:p>
        </p:txBody>
      </p:sp>
      <p:sp>
        <p:nvSpPr>
          <p:cNvPr id="30" name="Text 27"/>
          <p:cNvSpPr/>
          <p:nvPr/>
        </p:nvSpPr>
        <p:spPr>
          <a:xfrm>
            <a:off x="785813" y="4151138"/>
            <a:ext cx="2716048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77" dirty="0">
                <a:solidFill>
                  <a:srgbClr val="FFFFFF"/>
                </a:solidFill>
              </a:rPr>
              <a:t>"Fare" and "Class" are correlated</a:t>
            </a:r>
            <a:endParaRPr lang="en-US" sz="1377" dirty="0"/>
          </a:p>
        </p:txBody>
      </p:sp>
      <p:sp>
        <p:nvSpPr>
          <p:cNvPr id="31" name="Text 28"/>
          <p:cNvSpPr/>
          <p:nvPr/>
        </p:nvSpPr>
        <p:spPr>
          <a:xfrm>
            <a:off x="4214813" y="3984153"/>
            <a:ext cx="714375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45" dirty="0">
                <a:solidFill>
                  <a:srgbClr val="666666"/>
                </a:solidFill>
              </a:rPr>
              <a:t>→</a:t>
            </a:r>
            <a:endParaRPr lang="en-US" sz="2145" dirty="0"/>
          </a:p>
        </p:txBody>
      </p:sp>
      <p:sp>
        <p:nvSpPr>
          <p:cNvPr id="32" name="Text 29"/>
          <p:cNvSpPr/>
          <p:nvPr/>
        </p:nvSpPr>
        <p:spPr>
          <a:xfrm>
            <a:off x="4929188" y="3853779"/>
            <a:ext cx="34290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FF00FF"/>
                </a:solidFill>
              </a:rPr>
              <a:t>Action</a:t>
            </a:r>
            <a:endParaRPr lang="en-US" sz="683" dirty="0"/>
          </a:p>
        </p:txBody>
      </p:sp>
      <p:sp>
        <p:nvSpPr>
          <p:cNvPr id="33" name="Text 30"/>
          <p:cNvSpPr/>
          <p:nvPr/>
        </p:nvSpPr>
        <p:spPr>
          <a:xfrm>
            <a:off x="4929188" y="4025229"/>
            <a:ext cx="2426308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FFFFFF"/>
                </a:solidFill>
              </a:rPr>
              <a:t>Create interaction feature</a:t>
            </a:r>
            <a:endParaRPr lang="en-US" sz="1295" dirty="0"/>
          </a:p>
        </p:txBody>
      </p:sp>
      <p:sp>
        <p:nvSpPr>
          <p:cNvPr id="34" name="Text 31"/>
          <p:cNvSpPr/>
          <p:nvPr/>
        </p:nvSpPr>
        <p:spPr>
          <a:xfrm>
            <a:off x="4929188" y="4277046"/>
            <a:ext cx="1633937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FFFFFF"/>
                </a:solidFill>
              </a:rPr>
              <a:t>(Fare_Per_Person)</a:t>
            </a:r>
            <a:endParaRPr lang="en-US" sz="1295" dirty="0"/>
          </a:p>
        </p:txBody>
      </p:sp>
      <p:sp>
        <p:nvSpPr>
          <p:cNvPr id="37" name="Text 34"/>
          <p:cNvSpPr/>
          <p:nvPr/>
        </p:nvSpPr>
        <p:spPr>
          <a:xfrm>
            <a:off x="571500" y="4862970"/>
            <a:ext cx="421590" cy="112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/>
              <a:t>Module 04</a:t>
            </a:r>
          </a:p>
        </p:txBody>
      </p:sp>
      <p:sp>
        <p:nvSpPr>
          <p:cNvPr id="39" name="Text 29">
            <a:extLst>
              <a:ext uri="{FF2B5EF4-FFF2-40B4-BE49-F238E27FC236}">
                <a16:creationId xmlns:a16="http://schemas.microsoft.com/office/drawing/2014/main" id="{A0343C40-7CCA-4B6E-ACF5-FB105125F6F5}"/>
              </a:ext>
            </a:extLst>
          </p:cNvPr>
          <p:cNvSpPr/>
          <p:nvPr/>
        </p:nvSpPr>
        <p:spPr>
          <a:xfrm>
            <a:off x="6144295" y="4862970"/>
            <a:ext cx="2087110" cy="112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/>
              <a:t>Working with Data &amp; EDA (2026 Edition) • Classic ML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428625"/>
            <a:ext cx="4696670" cy="4671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0070C0"/>
                </a:solidFill>
              </a:rPr>
              <a:t>Real-World Example: Titanic</a:t>
            </a:r>
            <a:endParaRPr lang="en-US" sz="2862" dirty="0">
              <a:solidFill>
                <a:srgbClr val="0070C0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916022"/>
            <a:ext cx="3853299" cy="235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 dirty="0"/>
              <a:t>What our EDA revealed about survival patterns.</a:t>
            </a:r>
          </a:p>
        </p:txBody>
      </p:sp>
      <p:sp>
        <p:nvSpPr>
          <p:cNvPr id="5" name="Shape 2"/>
          <p:cNvSpPr/>
          <p:nvPr/>
        </p:nvSpPr>
        <p:spPr>
          <a:xfrm>
            <a:off x="571500" y="1348205"/>
            <a:ext cx="2476509" cy="3011091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71500" y="1348205"/>
            <a:ext cx="2476509" cy="42863"/>
          </a:xfrm>
          <a:prstGeom prst="rect">
            <a:avLst/>
          </a:prstGeom>
          <a:solidFill>
            <a:srgbClr val="00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28663" y="1505368"/>
            <a:ext cx="2162184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99" b="1" dirty="0">
                <a:solidFill>
                  <a:srgbClr val="00FFFF"/>
                </a:solidFill>
              </a:rPr>
              <a:t>Demographics</a:t>
            </a:r>
            <a:endParaRPr lang="en-US" sz="1499" dirty="0"/>
          </a:p>
        </p:txBody>
      </p:sp>
      <p:sp>
        <p:nvSpPr>
          <p:cNvPr id="8" name="Text 5"/>
          <p:cNvSpPr/>
          <p:nvPr/>
        </p:nvSpPr>
        <p:spPr>
          <a:xfrm>
            <a:off x="728663" y="1896488"/>
            <a:ext cx="2162184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i="1" dirty="0">
                <a:solidFill>
                  <a:srgbClr val="DDDDDD"/>
                </a:solidFill>
              </a:rPr>
              <a:t>"Women and children first."</a:t>
            </a:r>
            <a:endParaRPr lang="en-US" sz="1269" dirty="0"/>
          </a:p>
        </p:txBody>
      </p:sp>
      <p:sp>
        <p:nvSpPr>
          <p:cNvPr id="9" name="Text 6"/>
          <p:cNvSpPr/>
          <p:nvPr/>
        </p:nvSpPr>
        <p:spPr>
          <a:xfrm>
            <a:off x="728663" y="2222226"/>
            <a:ext cx="5910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666666"/>
                </a:solidFill>
              </a:rPr>
              <a:t>•</a:t>
            </a:r>
            <a:endParaRPr lang="en-US" sz="1159" dirty="0"/>
          </a:p>
        </p:txBody>
      </p:sp>
      <p:sp>
        <p:nvSpPr>
          <p:cNvPr id="10" name="Text 7"/>
          <p:cNvSpPr/>
          <p:nvPr/>
        </p:nvSpPr>
        <p:spPr>
          <a:xfrm>
            <a:off x="871538" y="2222226"/>
            <a:ext cx="16359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FFFFFF"/>
                </a:solidFill>
              </a:rPr>
              <a:t>Female Survival: ~74%</a:t>
            </a:r>
            <a:endParaRPr lang="en-US" sz="1159" dirty="0"/>
          </a:p>
        </p:txBody>
      </p:sp>
      <p:sp>
        <p:nvSpPr>
          <p:cNvPr id="11" name="Text 8"/>
          <p:cNvSpPr/>
          <p:nvPr/>
        </p:nvSpPr>
        <p:spPr>
          <a:xfrm>
            <a:off x="728663" y="2479401"/>
            <a:ext cx="5910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666666"/>
                </a:solidFill>
              </a:rPr>
              <a:t>•</a:t>
            </a:r>
            <a:endParaRPr lang="en-US" sz="1159" dirty="0"/>
          </a:p>
        </p:txBody>
      </p:sp>
      <p:sp>
        <p:nvSpPr>
          <p:cNvPr id="12" name="Text 9"/>
          <p:cNvSpPr/>
          <p:nvPr/>
        </p:nvSpPr>
        <p:spPr>
          <a:xfrm>
            <a:off x="871538" y="2479401"/>
            <a:ext cx="146131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FFFFFF"/>
                </a:solidFill>
              </a:rPr>
              <a:t>Male Survival: ~18%</a:t>
            </a:r>
            <a:endParaRPr lang="en-US" sz="1159" dirty="0"/>
          </a:p>
        </p:txBody>
      </p:sp>
      <p:sp>
        <p:nvSpPr>
          <p:cNvPr id="13" name="Text 10"/>
          <p:cNvSpPr/>
          <p:nvPr/>
        </p:nvSpPr>
        <p:spPr>
          <a:xfrm>
            <a:off x="728663" y="2736576"/>
            <a:ext cx="5910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666666"/>
                </a:solidFill>
              </a:rPr>
              <a:t>•</a:t>
            </a:r>
            <a:endParaRPr lang="en-US" sz="1159" dirty="0"/>
          </a:p>
        </p:txBody>
      </p:sp>
      <p:sp>
        <p:nvSpPr>
          <p:cNvPr id="14" name="Text 11"/>
          <p:cNvSpPr/>
          <p:nvPr/>
        </p:nvSpPr>
        <p:spPr>
          <a:xfrm>
            <a:off x="871538" y="2736576"/>
            <a:ext cx="166468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FFFFFF"/>
                </a:solidFill>
              </a:rPr>
              <a:t>Age: Children &lt; 10 had higher survival rates.</a:t>
            </a:r>
            <a:endParaRPr lang="en-US" sz="1159" dirty="0"/>
          </a:p>
        </p:txBody>
      </p:sp>
      <p:sp>
        <p:nvSpPr>
          <p:cNvPr id="15" name="Shape 12"/>
          <p:cNvSpPr/>
          <p:nvPr/>
        </p:nvSpPr>
        <p:spPr>
          <a:xfrm>
            <a:off x="728663" y="3450254"/>
            <a:ext cx="2162184" cy="75188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728663" y="3450254"/>
            <a:ext cx="28575" cy="751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14388" y="3535979"/>
            <a:ext cx="199073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888888"/>
                </a:solidFill>
              </a:rPr>
              <a:t>Implication</a:t>
            </a:r>
            <a:endParaRPr lang="en-US" sz="834" dirty="0"/>
          </a:p>
        </p:txBody>
      </p:sp>
      <p:sp>
        <p:nvSpPr>
          <p:cNvPr id="18" name="Text 15"/>
          <p:cNvSpPr/>
          <p:nvPr/>
        </p:nvSpPr>
        <p:spPr>
          <a:xfrm>
            <a:off x="814388" y="3727074"/>
            <a:ext cx="1990734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Sex and Age are critical features.</a:t>
            </a:r>
            <a:endParaRPr lang="en-US" sz="987" dirty="0"/>
          </a:p>
        </p:txBody>
      </p:sp>
      <p:sp>
        <p:nvSpPr>
          <p:cNvPr id="19" name="Shape 16"/>
          <p:cNvSpPr/>
          <p:nvPr/>
        </p:nvSpPr>
        <p:spPr>
          <a:xfrm>
            <a:off x="3333759" y="1348205"/>
            <a:ext cx="2476509" cy="3011091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3333759" y="1348205"/>
            <a:ext cx="2476509" cy="42863"/>
          </a:xfrm>
          <a:prstGeom prst="rect">
            <a:avLst/>
          </a:prstGeom>
          <a:solidFill>
            <a:srgbClr val="FF0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3490922" y="1505368"/>
            <a:ext cx="2162184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99" b="1" dirty="0">
                <a:solidFill>
                  <a:srgbClr val="FF00FF"/>
                </a:solidFill>
              </a:rPr>
              <a:t>Socioeconomic</a:t>
            </a:r>
            <a:endParaRPr lang="en-US" sz="1499" dirty="0"/>
          </a:p>
        </p:txBody>
      </p:sp>
      <p:sp>
        <p:nvSpPr>
          <p:cNvPr id="22" name="Text 19"/>
          <p:cNvSpPr/>
          <p:nvPr/>
        </p:nvSpPr>
        <p:spPr>
          <a:xfrm>
            <a:off x="3490922" y="1896488"/>
            <a:ext cx="2162184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i="1" dirty="0">
                <a:solidFill>
                  <a:srgbClr val="DDDDDD"/>
                </a:solidFill>
              </a:rPr>
              <a:t>"Money matters."</a:t>
            </a:r>
            <a:endParaRPr lang="en-US" sz="1269" dirty="0"/>
          </a:p>
        </p:txBody>
      </p:sp>
      <p:sp>
        <p:nvSpPr>
          <p:cNvPr id="23" name="Text 20"/>
          <p:cNvSpPr/>
          <p:nvPr/>
        </p:nvSpPr>
        <p:spPr>
          <a:xfrm>
            <a:off x="3490922" y="2222226"/>
            <a:ext cx="5910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666666"/>
                </a:solidFill>
              </a:rPr>
              <a:t>•</a:t>
            </a:r>
            <a:endParaRPr lang="en-US" sz="1159" dirty="0"/>
          </a:p>
        </p:txBody>
      </p:sp>
      <p:sp>
        <p:nvSpPr>
          <p:cNvPr id="24" name="Text 21"/>
          <p:cNvSpPr/>
          <p:nvPr/>
        </p:nvSpPr>
        <p:spPr>
          <a:xfrm>
            <a:off x="3633797" y="2222226"/>
            <a:ext cx="194505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FFFFFF"/>
                </a:solidFill>
              </a:rPr>
              <a:t>1st Class: Highest survival.</a:t>
            </a:r>
            <a:endParaRPr lang="en-US" sz="1159" dirty="0"/>
          </a:p>
        </p:txBody>
      </p:sp>
      <p:sp>
        <p:nvSpPr>
          <p:cNvPr id="25" name="Text 22"/>
          <p:cNvSpPr/>
          <p:nvPr/>
        </p:nvSpPr>
        <p:spPr>
          <a:xfrm>
            <a:off x="3490922" y="2479401"/>
            <a:ext cx="5910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666666"/>
                </a:solidFill>
              </a:rPr>
              <a:t>•</a:t>
            </a:r>
            <a:endParaRPr lang="en-US" sz="1159" dirty="0"/>
          </a:p>
        </p:txBody>
      </p:sp>
      <p:sp>
        <p:nvSpPr>
          <p:cNvPr id="26" name="Text 23"/>
          <p:cNvSpPr/>
          <p:nvPr/>
        </p:nvSpPr>
        <p:spPr>
          <a:xfrm>
            <a:off x="3633797" y="2479401"/>
            <a:ext cx="19184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FFFFFF"/>
                </a:solidFill>
              </a:rPr>
              <a:t>3rd Class: Lowest survival.</a:t>
            </a:r>
            <a:endParaRPr lang="en-US" sz="1159" dirty="0"/>
          </a:p>
        </p:txBody>
      </p:sp>
      <p:sp>
        <p:nvSpPr>
          <p:cNvPr id="27" name="Text 24"/>
          <p:cNvSpPr/>
          <p:nvPr/>
        </p:nvSpPr>
        <p:spPr>
          <a:xfrm>
            <a:off x="3490922" y="2736576"/>
            <a:ext cx="5910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666666"/>
                </a:solidFill>
              </a:rPr>
              <a:t>•</a:t>
            </a:r>
            <a:endParaRPr lang="en-US" sz="1159" dirty="0"/>
          </a:p>
        </p:txBody>
      </p:sp>
      <p:sp>
        <p:nvSpPr>
          <p:cNvPr id="28" name="Text 25"/>
          <p:cNvSpPr/>
          <p:nvPr/>
        </p:nvSpPr>
        <p:spPr>
          <a:xfrm>
            <a:off x="3633797" y="2736576"/>
            <a:ext cx="163151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FFFFFF"/>
                </a:solidFill>
              </a:rPr>
              <a:t>Fare: Highly skewed distribution (long tail).</a:t>
            </a:r>
            <a:endParaRPr lang="en-US" sz="1159" dirty="0"/>
          </a:p>
        </p:txBody>
      </p:sp>
      <p:sp>
        <p:nvSpPr>
          <p:cNvPr id="29" name="Shape 26"/>
          <p:cNvSpPr/>
          <p:nvPr/>
        </p:nvSpPr>
        <p:spPr>
          <a:xfrm>
            <a:off x="3490922" y="3450254"/>
            <a:ext cx="2162184" cy="75188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3490922" y="3450254"/>
            <a:ext cx="28575" cy="751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3576647" y="3535979"/>
            <a:ext cx="199073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888888"/>
                </a:solidFill>
              </a:rPr>
              <a:t>Implication</a:t>
            </a:r>
            <a:endParaRPr lang="en-US" sz="834" dirty="0"/>
          </a:p>
        </p:txBody>
      </p:sp>
      <p:sp>
        <p:nvSpPr>
          <p:cNvPr id="32" name="Text 29"/>
          <p:cNvSpPr/>
          <p:nvPr/>
        </p:nvSpPr>
        <p:spPr>
          <a:xfrm>
            <a:off x="3576647" y="3727074"/>
            <a:ext cx="1990734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Pclass is a strong predictor. Fare needs log transform.</a:t>
            </a:r>
            <a:endParaRPr lang="en-US" sz="987" dirty="0"/>
          </a:p>
        </p:txBody>
      </p:sp>
      <p:sp>
        <p:nvSpPr>
          <p:cNvPr id="33" name="Shape 30"/>
          <p:cNvSpPr/>
          <p:nvPr/>
        </p:nvSpPr>
        <p:spPr>
          <a:xfrm>
            <a:off x="6096019" y="1348205"/>
            <a:ext cx="2476509" cy="3011091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6096019" y="1348205"/>
            <a:ext cx="2476509" cy="42863"/>
          </a:xfrm>
          <a:prstGeom prst="rect">
            <a:avLst/>
          </a:prstGeom>
          <a:solidFill>
            <a:srgbClr val="00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6253181" y="1505368"/>
            <a:ext cx="2162184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99" b="1" dirty="0">
                <a:solidFill>
                  <a:srgbClr val="00FFFF"/>
                </a:solidFill>
              </a:rPr>
              <a:t>Data Quality</a:t>
            </a:r>
            <a:endParaRPr lang="en-US" sz="1499" dirty="0"/>
          </a:p>
        </p:txBody>
      </p:sp>
      <p:sp>
        <p:nvSpPr>
          <p:cNvPr id="36" name="Text 33"/>
          <p:cNvSpPr/>
          <p:nvPr/>
        </p:nvSpPr>
        <p:spPr>
          <a:xfrm>
            <a:off x="6253181" y="1896488"/>
            <a:ext cx="2162184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i="1" dirty="0">
                <a:solidFill>
                  <a:srgbClr val="DDDDDD"/>
                </a:solidFill>
              </a:rPr>
              <a:t>"Gaps in the record."</a:t>
            </a:r>
            <a:endParaRPr lang="en-US" sz="1269" dirty="0"/>
          </a:p>
        </p:txBody>
      </p:sp>
      <p:sp>
        <p:nvSpPr>
          <p:cNvPr id="37" name="Text 34"/>
          <p:cNvSpPr/>
          <p:nvPr/>
        </p:nvSpPr>
        <p:spPr>
          <a:xfrm>
            <a:off x="6253181" y="2222226"/>
            <a:ext cx="5910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666666"/>
                </a:solidFill>
              </a:rPr>
              <a:t>•</a:t>
            </a:r>
            <a:endParaRPr lang="en-US" sz="1159" dirty="0"/>
          </a:p>
        </p:txBody>
      </p:sp>
      <p:sp>
        <p:nvSpPr>
          <p:cNvPr id="38" name="Text 35"/>
          <p:cNvSpPr/>
          <p:nvPr/>
        </p:nvSpPr>
        <p:spPr>
          <a:xfrm>
            <a:off x="6396056" y="2222226"/>
            <a:ext cx="186789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FFFFFF"/>
                </a:solidFill>
              </a:rPr>
              <a:t>Cabin: ~77% missing. Too sparse?</a:t>
            </a:r>
            <a:endParaRPr lang="en-US" sz="1159" dirty="0"/>
          </a:p>
        </p:txBody>
      </p:sp>
      <p:sp>
        <p:nvSpPr>
          <p:cNvPr id="39" name="Text 36"/>
          <p:cNvSpPr/>
          <p:nvPr/>
        </p:nvSpPr>
        <p:spPr>
          <a:xfrm>
            <a:off x="6253181" y="2693714"/>
            <a:ext cx="5910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666666"/>
                </a:solidFill>
              </a:rPr>
              <a:t>•</a:t>
            </a:r>
            <a:endParaRPr lang="en-US" sz="1159" dirty="0"/>
          </a:p>
        </p:txBody>
      </p:sp>
      <p:sp>
        <p:nvSpPr>
          <p:cNvPr id="40" name="Text 37"/>
          <p:cNvSpPr/>
          <p:nvPr/>
        </p:nvSpPr>
        <p:spPr>
          <a:xfrm>
            <a:off x="6396056" y="2693714"/>
            <a:ext cx="142436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FFFFFF"/>
                </a:solidFill>
              </a:rPr>
              <a:t>Age: ~20% missing.</a:t>
            </a:r>
            <a:endParaRPr lang="en-US" sz="1159" dirty="0"/>
          </a:p>
        </p:txBody>
      </p:sp>
      <p:sp>
        <p:nvSpPr>
          <p:cNvPr id="41" name="Text 38"/>
          <p:cNvSpPr/>
          <p:nvPr/>
        </p:nvSpPr>
        <p:spPr>
          <a:xfrm>
            <a:off x="6253181" y="2950889"/>
            <a:ext cx="5910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666666"/>
                </a:solidFill>
              </a:rPr>
              <a:t>•</a:t>
            </a:r>
            <a:endParaRPr lang="en-US" sz="1159" dirty="0"/>
          </a:p>
        </p:txBody>
      </p:sp>
      <p:sp>
        <p:nvSpPr>
          <p:cNvPr id="42" name="Text 39"/>
          <p:cNvSpPr/>
          <p:nvPr/>
        </p:nvSpPr>
        <p:spPr>
          <a:xfrm>
            <a:off x="6396056" y="2950889"/>
            <a:ext cx="196296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FFFFFF"/>
                </a:solidFill>
              </a:rPr>
              <a:t>Embarked: Only 2 missing.</a:t>
            </a:r>
            <a:endParaRPr lang="en-US" sz="1159" dirty="0"/>
          </a:p>
        </p:txBody>
      </p:sp>
      <p:sp>
        <p:nvSpPr>
          <p:cNvPr id="43" name="Shape 40"/>
          <p:cNvSpPr/>
          <p:nvPr/>
        </p:nvSpPr>
        <p:spPr>
          <a:xfrm>
            <a:off x="6253181" y="3450254"/>
            <a:ext cx="2162184" cy="75188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6253181" y="3450254"/>
            <a:ext cx="28575" cy="751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6338906" y="3535979"/>
            <a:ext cx="199073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888888"/>
                </a:solidFill>
              </a:rPr>
              <a:t>Implication</a:t>
            </a:r>
            <a:endParaRPr lang="en-US" sz="834" dirty="0"/>
          </a:p>
        </p:txBody>
      </p:sp>
      <p:sp>
        <p:nvSpPr>
          <p:cNvPr id="46" name="Text 43"/>
          <p:cNvSpPr/>
          <p:nvPr/>
        </p:nvSpPr>
        <p:spPr>
          <a:xfrm>
            <a:off x="6338906" y="3727074"/>
            <a:ext cx="1990734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Drop 'Cabin'. Impute 'Age' using median.</a:t>
            </a:r>
            <a:endParaRPr lang="en-US" sz="987" dirty="0"/>
          </a:p>
        </p:txBody>
      </p:sp>
      <p:sp>
        <p:nvSpPr>
          <p:cNvPr id="48" name="Shape 45"/>
          <p:cNvSpPr/>
          <p:nvPr/>
        </p:nvSpPr>
        <p:spPr>
          <a:xfrm>
            <a:off x="571500" y="4352152"/>
            <a:ext cx="8001000" cy="7144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571500" y="4873173"/>
            <a:ext cx="421590" cy="112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/>
              <a:t>Module 04</a:t>
            </a:r>
          </a:p>
        </p:txBody>
      </p:sp>
      <p:sp>
        <p:nvSpPr>
          <p:cNvPr id="51" name="Text 29">
            <a:extLst>
              <a:ext uri="{FF2B5EF4-FFF2-40B4-BE49-F238E27FC236}">
                <a16:creationId xmlns:a16="http://schemas.microsoft.com/office/drawing/2014/main" id="{2DCA3289-7303-8EFD-F749-A8EE62E82D00}"/>
              </a:ext>
            </a:extLst>
          </p:cNvPr>
          <p:cNvSpPr/>
          <p:nvPr/>
        </p:nvSpPr>
        <p:spPr>
          <a:xfrm>
            <a:off x="6144295" y="4873173"/>
            <a:ext cx="2087110" cy="112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/>
              <a:t>Working with Data &amp; EDA (2026 Edition) • Classic ML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61601F29-5087-7294-117E-D958E7F02289}"/>
              </a:ext>
            </a:extLst>
          </p:cNvPr>
          <p:cNvSpPr/>
          <p:nvPr/>
        </p:nvSpPr>
        <p:spPr>
          <a:xfrm>
            <a:off x="571500" y="3754654"/>
            <a:ext cx="8142550" cy="85985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16A173-2E11-EA80-2EA5-5829A1CB116E}"/>
              </a:ext>
            </a:extLst>
          </p:cNvPr>
          <p:cNvSpPr/>
          <p:nvPr/>
        </p:nvSpPr>
        <p:spPr>
          <a:xfrm>
            <a:off x="571500" y="1886505"/>
            <a:ext cx="8142550" cy="85985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6038D9F-6E7D-C5C5-89FF-93C43EA7F3E7}"/>
              </a:ext>
            </a:extLst>
          </p:cNvPr>
          <p:cNvSpPr/>
          <p:nvPr/>
        </p:nvSpPr>
        <p:spPr>
          <a:xfrm>
            <a:off x="571500" y="2823363"/>
            <a:ext cx="8142550" cy="85985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60F50E-B223-CF9A-0806-93EB8E915691}"/>
              </a:ext>
            </a:extLst>
          </p:cNvPr>
          <p:cNvSpPr/>
          <p:nvPr/>
        </p:nvSpPr>
        <p:spPr>
          <a:xfrm>
            <a:off x="571500" y="949647"/>
            <a:ext cx="8142550" cy="85985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0"/>
          <p:cNvSpPr/>
          <p:nvPr/>
        </p:nvSpPr>
        <p:spPr>
          <a:xfrm>
            <a:off x="571500" y="428625"/>
            <a:ext cx="3884461" cy="4671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0070C0"/>
                </a:solidFill>
              </a:rPr>
              <a:t>Common EDA Mistakes</a:t>
            </a:r>
            <a:endParaRPr lang="en-US" sz="2862" dirty="0">
              <a:solidFill>
                <a:srgbClr val="0070C0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785813" y="949647"/>
            <a:ext cx="778668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00FF"/>
                </a:solidFill>
              </a:rPr>
              <a:t>1. The "Black Box" Approach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785813" y="1254167"/>
            <a:ext cx="7786688" cy="464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77" dirty="0">
                <a:solidFill>
                  <a:srgbClr val="CCCCCC"/>
                </a:solidFill>
              </a:rPr>
              <a:t>Skipping EDA to jump straight into modeling. </a:t>
            </a:r>
            <a:r>
              <a:rPr lang="en-US" sz="1377" dirty="0">
                <a:solidFill>
                  <a:srgbClr val="00FF00"/>
                </a:solidFill>
              </a:rPr>
              <a:t>Garbage In, Garbage Out</a:t>
            </a:r>
            <a:r>
              <a:rPr lang="en-US" sz="1377" dirty="0">
                <a:solidFill>
                  <a:srgbClr val="FFFFFF"/>
                </a:solidFill>
              </a:rPr>
              <a:t>.</a:t>
            </a:r>
            <a:r>
              <a:rPr lang="en-US" sz="1377" dirty="0">
                <a:solidFill>
                  <a:srgbClr val="CCCCCC"/>
                </a:solidFill>
              </a:rPr>
              <a:t> You cannot model what you do not understand.</a:t>
            </a:r>
            <a:endParaRPr lang="en-US" sz="1377" dirty="0"/>
          </a:p>
        </p:txBody>
      </p:sp>
      <p:sp>
        <p:nvSpPr>
          <p:cNvPr id="6" name="Text 3"/>
          <p:cNvSpPr/>
          <p:nvPr/>
        </p:nvSpPr>
        <p:spPr>
          <a:xfrm>
            <a:off x="785813" y="1880938"/>
            <a:ext cx="778668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00FF"/>
                </a:solidFill>
              </a:rPr>
              <a:t>2. Blind Deletion</a:t>
            </a:r>
            <a:endParaRPr lang="en-US" sz="1602" dirty="0"/>
          </a:p>
        </p:txBody>
      </p:sp>
      <p:sp>
        <p:nvSpPr>
          <p:cNvPr id="7" name="Text 4"/>
          <p:cNvSpPr/>
          <p:nvPr/>
        </p:nvSpPr>
        <p:spPr>
          <a:xfrm>
            <a:off x="785813" y="2209643"/>
            <a:ext cx="7786688" cy="464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00"/>
              </a:lnSpc>
            </a:pPr>
            <a:r>
              <a:rPr lang="en-US" sz="1377" dirty="0">
                <a:solidFill>
                  <a:srgbClr val="CCCCCC"/>
                </a:solidFill>
              </a:rPr>
              <a:t>Dropping missing values or outliers without investigation. Often, the </a:t>
            </a:r>
            <a:r>
              <a:rPr lang="en-US" sz="1377" dirty="0">
                <a:solidFill>
                  <a:srgbClr val="FFFFFF"/>
                </a:solidFill>
              </a:rPr>
              <a:t>presence or absence of something (</a:t>
            </a:r>
            <a:r>
              <a:rPr lang="en-US" sz="1377" dirty="0">
                <a:solidFill>
                  <a:srgbClr val="00FF00"/>
                </a:solidFill>
              </a:rPr>
              <a:t>missing/not-missing</a:t>
            </a:r>
            <a:r>
              <a:rPr lang="en-US" sz="1377" dirty="0">
                <a:solidFill>
                  <a:srgbClr val="FFFFFF"/>
                </a:solidFill>
              </a:rPr>
              <a:t>) signals something</a:t>
            </a:r>
            <a:r>
              <a:rPr lang="en-US" sz="1377" dirty="0">
                <a:solidFill>
                  <a:srgbClr val="CCCCCC"/>
                </a:solidFill>
              </a:rPr>
              <a:t> (e.g., a user declining to answer).</a:t>
            </a:r>
            <a:endParaRPr lang="en-US" sz="1377" dirty="0"/>
          </a:p>
        </p:txBody>
      </p:sp>
      <p:sp>
        <p:nvSpPr>
          <p:cNvPr id="8" name="Text 5"/>
          <p:cNvSpPr/>
          <p:nvPr/>
        </p:nvSpPr>
        <p:spPr>
          <a:xfrm>
            <a:off x="785813" y="2834895"/>
            <a:ext cx="778668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00FF"/>
                </a:solidFill>
              </a:rPr>
              <a:t>3. Trusting Summary Statistics</a:t>
            </a:r>
            <a:endParaRPr lang="en-US" sz="1602" dirty="0"/>
          </a:p>
        </p:txBody>
      </p:sp>
      <p:sp>
        <p:nvSpPr>
          <p:cNvPr id="9" name="Text 6"/>
          <p:cNvSpPr/>
          <p:nvPr/>
        </p:nvSpPr>
        <p:spPr>
          <a:xfrm>
            <a:off x="785813" y="3163842"/>
            <a:ext cx="7786688" cy="464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77" dirty="0">
                <a:solidFill>
                  <a:srgbClr val="CCCCCC"/>
                </a:solidFill>
              </a:rPr>
              <a:t>Relying solely on Mean and Standard Deviation. Averages hide skewness, bimodality, and outliers. </a:t>
            </a:r>
            <a:r>
              <a:rPr lang="en-US" sz="1377" dirty="0">
                <a:solidFill>
                  <a:srgbClr val="00FF00"/>
                </a:solidFill>
              </a:rPr>
              <a:t>Always visualize</a:t>
            </a:r>
            <a:r>
              <a:rPr lang="en-US" sz="1377" dirty="0">
                <a:solidFill>
                  <a:srgbClr val="FFFFFF"/>
                </a:solidFill>
              </a:rPr>
              <a:t>.</a:t>
            </a:r>
            <a:endParaRPr lang="en-US" sz="1377" dirty="0"/>
          </a:p>
        </p:txBody>
      </p:sp>
      <p:sp>
        <p:nvSpPr>
          <p:cNvPr id="10" name="Text 7"/>
          <p:cNvSpPr/>
          <p:nvPr/>
        </p:nvSpPr>
        <p:spPr>
          <a:xfrm>
            <a:off x="785813" y="3775980"/>
            <a:ext cx="778668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00FF"/>
                </a:solidFill>
              </a:rPr>
              <a:t>4. Ignoring Domain Knowledge</a:t>
            </a:r>
            <a:endParaRPr lang="en-US" sz="1602" dirty="0"/>
          </a:p>
        </p:txBody>
      </p:sp>
      <p:sp>
        <p:nvSpPr>
          <p:cNvPr id="11" name="Text 8"/>
          <p:cNvSpPr/>
          <p:nvPr/>
        </p:nvSpPr>
        <p:spPr>
          <a:xfrm>
            <a:off x="785813" y="4071569"/>
            <a:ext cx="7786688" cy="464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77" dirty="0">
                <a:solidFill>
                  <a:srgbClr val="CCCCCC"/>
                </a:solidFill>
              </a:rPr>
              <a:t>Treating numbers as just numbers. You must understand the </a:t>
            </a:r>
            <a:r>
              <a:rPr lang="en-US" sz="1377" dirty="0">
                <a:solidFill>
                  <a:srgbClr val="00FF00"/>
                </a:solidFill>
              </a:rPr>
              <a:t>real-world context </a:t>
            </a:r>
            <a:r>
              <a:rPr lang="en-US" sz="1377" dirty="0">
                <a:solidFill>
                  <a:srgbClr val="CCCCCC"/>
                </a:solidFill>
              </a:rPr>
              <a:t>(e.g., negative age is impossible, but -1 might mean "unknown").</a:t>
            </a:r>
            <a:endParaRPr lang="en-US" sz="1377" dirty="0"/>
          </a:p>
        </p:txBody>
      </p:sp>
      <p:sp>
        <p:nvSpPr>
          <p:cNvPr id="12" name="Shape 9"/>
          <p:cNvSpPr/>
          <p:nvPr/>
        </p:nvSpPr>
        <p:spPr>
          <a:xfrm>
            <a:off x="571500" y="4747932"/>
            <a:ext cx="8001000" cy="25003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71500" y="4880306"/>
            <a:ext cx="421590" cy="112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/>
              <a:t>Module 04</a:t>
            </a:r>
          </a:p>
        </p:txBody>
      </p:sp>
      <p:sp>
        <p:nvSpPr>
          <p:cNvPr id="20" name="Text 29">
            <a:extLst>
              <a:ext uri="{FF2B5EF4-FFF2-40B4-BE49-F238E27FC236}">
                <a16:creationId xmlns:a16="http://schemas.microsoft.com/office/drawing/2014/main" id="{866FB675-7C1F-D424-AF16-92EB587A3840}"/>
              </a:ext>
            </a:extLst>
          </p:cNvPr>
          <p:cNvSpPr/>
          <p:nvPr/>
        </p:nvSpPr>
        <p:spPr>
          <a:xfrm>
            <a:off x="6144295" y="4880306"/>
            <a:ext cx="2087110" cy="112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/>
              <a:t>Working with Data &amp; EDA (2026 Edition) • Classic ML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428625"/>
            <a:ext cx="3170868" cy="4671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dirty="0">
                <a:solidFill>
                  <a:schemeClr val="accent1"/>
                </a:solidFill>
              </a:rPr>
              <a:t>When to Stop EDA?</a:t>
            </a:r>
            <a:endParaRPr lang="en-US" sz="2862" dirty="0">
              <a:solidFill>
                <a:schemeClr val="accent1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1166217"/>
            <a:ext cx="173124" cy="3335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808" b="1" dirty="0">
                <a:solidFill>
                  <a:schemeClr val="accent1"/>
                </a:solidFill>
              </a:rPr>
              <a:t>✓</a:t>
            </a:r>
            <a:endParaRPr lang="en-US" sz="1808" dirty="0">
              <a:solidFill>
                <a:schemeClr val="accent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928688" y="1205508"/>
            <a:ext cx="1153008" cy="2875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95" dirty="0"/>
              <a:t>Data Quality:</a:t>
            </a:r>
          </a:p>
        </p:txBody>
      </p:sp>
      <p:sp>
        <p:nvSpPr>
          <p:cNvPr id="6" name="Text 3"/>
          <p:cNvSpPr/>
          <p:nvPr/>
        </p:nvSpPr>
        <p:spPr>
          <a:xfrm>
            <a:off x="2173971" y="1205508"/>
            <a:ext cx="6278174" cy="287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95" dirty="0"/>
              <a:t>You have identified and handled missing values, duplicates, and errors.</a:t>
            </a:r>
          </a:p>
        </p:txBody>
      </p:sp>
      <p:sp>
        <p:nvSpPr>
          <p:cNvPr id="7" name="Text 4"/>
          <p:cNvSpPr/>
          <p:nvPr/>
        </p:nvSpPr>
        <p:spPr>
          <a:xfrm>
            <a:off x="571500" y="1587135"/>
            <a:ext cx="173124" cy="3335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808" b="1" dirty="0">
                <a:solidFill>
                  <a:schemeClr val="accent1"/>
                </a:solidFill>
              </a:rPr>
              <a:t>✓</a:t>
            </a:r>
            <a:endParaRPr lang="en-US" sz="1808" dirty="0">
              <a:solidFill>
                <a:schemeClr val="accent1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928688" y="1626425"/>
            <a:ext cx="1194622" cy="2875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95" dirty="0"/>
              <a:t>Distributions:</a:t>
            </a:r>
          </a:p>
        </p:txBody>
      </p:sp>
      <p:sp>
        <p:nvSpPr>
          <p:cNvPr id="9" name="Text 6"/>
          <p:cNvSpPr/>
          <p:nvPr/>
        </p:nvSpPr>
        <p:spPr>
          <a:xfrm>
            <a:off x="2283377" y="1626425"/>
            <a:ext cx="5475345" cy="2875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95" dirty="0"/>
              <a:t>You know which features are skewed and need transformation.</a:t>
            </a:r>
          </a:p>
        </p:txBody>
      </p:sp>
      <p:sp>
        <p:nvSpPr>
          <p:cNvPr id="10" name="Text 7"/>
          <p:cNvSpPr/>
          <p:nvPr/>
        </p:nvSpPr>
        <p:spPr>
          <a:xfrm>
            <a:off x="571500" y="2015760"/>
            <a:ext cx="173124" cy="3335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808" b="1" dirty="0">
                <a:solidFill>
                  <a:schemeClr val="accent1"/>
                </a:solidFill>
              </a:rPr>
              <a:t>✓</a:t>
            </a:r>
            <a:endParaRPr lang="en-US" sz="1808" dirty="0">
              <a:solidFill>
                <a:schemeClr val="accent1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928688" y="2055050"/>
            <a:ext cx="1261371" cy="2875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95" dirty="0"/>
              <a:t>Relationships:</a:t>
            </a:r>
          </a:p>
        </p:txBody>
      </p:sp>
      <p:sp>
        <p:nvSpPr>
          <p:cNvPr id="12" name="Text 9"/>
          <p:cNvSpPr/>
          <p:nvPr/>
        </p:nvSpPr>
        <p:spPr>
          <a:xfrm>
            <a:off x="2335448" y="2055050"/>
            <a:ext cx="5244000" cy="2875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95" dirty="0"/>
              <a:t>You have a hypothesis about which features drive the target.</a:t>
            </a:r>
          </a:p>
        </p:txBody>
      </p:sp>
      <p:sp>
        <p:nvSpPr>
          <p:cNvPr id="13" name="Text 10"/>
          <p:cNvSpPr/>
          <p:nvPr/>
        </p:nvSpPr>
        <p:spPr>
          <a:xfrm>
            <a:off x="571500" y="2444385"/>
            <a:ext cx="173124" cy="3335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808" b="1" dirty="0">
                <a:solidFill>
                  <a:schemeClr val="accent1"/>
                </a:solidFill>
              </a:rPr>
              <a:t>✓</a:t>
            </a:r>
            <a:endParaRPr lang="en-US" sz="1808" dirty="0">
              <a:solidFill>
                <a:schemeClr val="accent1"/>
              </a:solidFill>
            </a:endParaRPr>
          </a:p>
        </p:txBody>
      </p:sp>
      <p:sp>
        <p:nvSpPr>
          <p:cNvPr id="14" name="Text 11"/>
          <p:cNvSpPr/>
          <p:nvPr/>
        </p:nvSpPr>
        <p:spPr>
          <a:xfrm>
            <a:off x="928688" y="2483675"/>
            <a:ext cx="1057982" cy="2875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95" dirty="0"/>
              <a:t>Action Plan:</a:t>
            </a:r>
          </a:p>
        </p:txBody>
      </p:sp>
      <p:sp>
        <p:nvSpPr>
          <p:cNvPr id="15" name="Text 12"/>
          <p:cNvSpPr/>
          <p:nvPr/>
        </p:nvSpPr>
        <p:spPr>
          <a:xfrm>
            <a:off x="2114076" y="2483675"/>
            <a:ext cx="4742388" cy="2875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95" dirty="0"/>
              <a:t>You are ready to engineer features and select a model.</a:t>
            </a:r>
          </a:p>
        </p:txBody>
      </p:sp>
      <p:sp>
        <p:nvSpPr>
          <p:cNvPr id="16" name="Shape 13"/>
          <p:cNvSpPr/>
          <p:nvPr/>
        </p:nvSpPr>
        <p:spPr>
          <a:xfrm>
            <a:off x="571500" y="3014188"/>
            <a:ext cx="8001000" cy="1259086"/>
          </a:xfrm>
          <a:prstGeom prst="rect">
            <a:avLst/>
          </a:prstGeom>
          <a:solidFill>
            <a:srgbClr val="FF00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71500" y="3014188"/>
            <a:ext cx="42863" cy="1259086"/>
          </a:xfrm>
          <a:prstGeom prst="rect">
            <a:avLst/>
          </a:prstGeom>
          <a:solidFill>
            <a:srgbClr val="FF0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42950" y="3185638"/>
            <a:ext cx="765810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kern="0" spc="1" dirty="0">
                <a:solidFill>
                  <a:srgbClr val="FF00FF"/>
                </a:solidFill>
              </a:rPr>
              <a:t>The Golden Rule</a:t>
            </a:r>
            <a:endParaRPr lang="en-US" sz="1397" dirty="0"/>
          </a:p>
        </p:txBody>
      </p:sp>
      <p:sp>
        <p:nvSpPr>
          <p:cNvPr id="19" name="Text 16"/>
          <p:cNvSpPr/>
          <p:nvPr/>
        </p:nvSpPr>
        <p:spPr>
          <a:xfrm>
            <a:off x="742950" y="3544612"/>
            <a:ext cx="765810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77" dirty="0"/>
              <a:t>EDA is never truly "finished." It is an iterative process.
 If your model performs poorly, </a:t>
            </a:r>
            <a:r>
              <a:rPr lang="en-US" sz="1295" b="1" dirty="0"/>
              <a:t>you will return to EDA</a:t>
            </a:r>
            <a:r>
              <a:rPr lang="en-US" sz="1377" dirty="0"/>
              <a:t> to find out why.</a:t>
            </a:r>
          </a:p>
        </p:txBody>
      </p:sp>
      <p:sp>
        <p:nvSpPr>
          <p:cNvPr id="20" name="Shape 17"/>
          <p:cNvSpPr/>
          <p:nvPr/>
        </p:nvSpPr>
        <p:spPr>
          <a:xfrm>
            <a:off x="571500" y="4768453"/>
            <a:ext cx="8001000" cy="25003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71500" y="4890567"/>
            <a:ext cx="421590" cy="112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/>
              <a:t>Module 04</a:t>
            </a:r>
          </a:p>
        </p:txBody>
      </p:sp>
      <p:sp>
        <p:nvSpPr>
          <p:cNvPr id="24" name="Text 29">
            <a:extLst>
              <a:ext uri="{FF2B5EF4-FFF2-40B4-BE49-F238E27FC236}">
                <a16:creationId xmlns:a16="http://schemas.microsoft.com/office/drawing/2014/main" id="{574E0677-95B3-E8B7-0EBC-2D5FF00C753B}"/>
              </a:ext>
            </a:extLst>
          </p:cNvPr>
          <p:cNvSpPr/>
          <p:nvPr/>
        </p:nvSpPr>
        <p:spPr>
          <a:xfrm>
            <a:off x="6144295" y="4890567"/>
            <a:ext cx="2087110" cy="112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/>
              <a:t>Working with Data &amp; EDA (2026 Edition) • Classic ML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428625"/>
            <a:ext cx="2361993" cy="4671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dirty="0">
                <a:solidFill>
                  <a:schemeClr val="accent1"/>
                </a:solidFill>
              </a:rPr>
              <a:t>EDA Checklist</a:t>
            </a:r>
            <a:endParaRPr lang="en-US" sz="2862" dirty="0">
              <a:solidFill>
                <a:schemeClr val="accent1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1259086"/>
            <a:ext cx="3786188" cy="398264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00FF"/>
                </a:solidFill>
              </a:rPr>
              <a:t>1. Data Health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600075" y="1812727"/>
            <a:ext cx="142668" cy="235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 dirty="0"/>
              <a:t>✓</a:t>
            </a:r>
          </a:p>
        </p:txBody>
      </p:sp>
      <p:sp>
        <p:nvSpPr>
          <p:cNvPr id="6" name="Text 3"/>
          <p:cNvSpPr/>
          <p:nvPr/>
        </p:nvSpPr>
        <p:spPr>
          <a:xfrm>
            <a:off x="885825" y="1835944"/>
            <a:ext cx="2366995" cy="231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77" dirty="0"/>
              <a:t>Check shape &amp; data types </a:t>
            </a:r>
            <a:r>
              <a:rPr lang="en-US" sz="1094" dirty="0"/>
              <a:t>.info()</a:t>
            </a:r>
            <a:endParaRPr lang="en-US" sz="1377" dirty="0"/>
          </a:p>
        </p:txBody>
      </p:sp>
      <p:sp>
        <p:nvSpPr>
          <p:cNvPr id="7" name="Text 4"/>
          <p:cNvSpPr/>
          <p:nvPr/>
        </p:nvSpPr>
        <p:spPr>
          <a:xfrm>
            <a:off x="600075" y="2197038"/>
            <a:ext cx="142668" cy="235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 dirty="0"/>
              <a:t>✓</a:t>
            </a:r>
          </a:p>
        </p:txBody>
      </p:sp>
      <p:sp>
        <p:nvSpPr>
          <p:cNvPr id="8" name="Text 5"/>
          <p:cNvSpPr/>
          <p:nvPr/>
        </p:nvSpPr>
        <p:spPr>
          <a:xfrm>
            <a:off x="885825" y="2220255"/>
            <a:ext cx="2613408" cy="231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77" dirty="0"/>
              <a:t>Identify missing values </a:t>
            </a:r>
            <a:r>
              <a:rPr lang="en-US" sz="1094" dirty="0"/>
              <a:t>.isnull().sum()</a:t>
            </a:r>
            <a:endParaRPr lang="en-US" sz="1377" dirty="0"/>
          </a:p>
        </p:txBody>
      </p:sp>
      <p:sp>
        <p:nvSpPr>
          <p:cNvPr id="9" name="Text 6"/>
          <p:cNvSpPr/>
          <p:nvPr/>
        </p:nvSpPr>
        <p:spPr>
          <a:xfrm>
            <a:off x="600075" y="2581349"/>
            <a:ext cx="142668" cy="235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 dirty="0"/>
              <a:t>✓</a:t>
            </a:r>
          </a:p>
        </p:txBody>
      </p:sp>
      <p:sp>
        <p:nvSpPr>
          <p:cNvPr id="10" name="Text 7"/>
          <p:cNvSpPr/>
          <p:nvPr/>
        </p:nvSpPr>
        <p:spPr>
          <a:xfrm>
            <a:off x="885825" y="2604567"/>
            <a:ext cx="2387641" cy="231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77" dirty="0"/>
              <a:t>Check for duplicates </a:t>
            </a:r>
            <a:r>
              <a:rPr lang="en-US" sz="1094" dirty="0"/>
              <a:t>.duplicated()</a:t>
            </a:r>
            <a:endParaRPr lang="en-US" sz="1377" dirty="0"/>
          </a:p>
        </p:txBody>
      </p:sp>
      <p:sp>
        <p:nvSpPr>
          <p:cNvPr id="11" name="Text 8"/>
          <p:cNvSpPr/>
          <p:nvPr/>
        </p:nvSpPr>
        <p:spPr>
          <a:xfrm>
            <a:off x="600075" y="2965661"/>
            <a:ext cx="142668" cy="235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 dirty="0"/>
              <a:t>✓</a:t>
            </a:r>
          </a:p>
        </p:txBody>
      </p:sp>
      <p:sp>
        <p:nvSpPr>
          <p:cNvPr id="12" name="Text 9"/>
          <p:cNvSpPr/>
          <p:nvPr/>
        </p:nvSpPr>
        <p:spPr>
          <a:xfrm>
            <a:off x="885825" y="2988878"/>
            <a:ext cx="2157642" cy="231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77" dirty="0"/>
              <a:t>Summary statistics </a:t>
            </a:r>
            <a:r>
              <a:rPr lang="en-US" sz="1094" dirty="0"/>
              <a:t>.describe()</a:t>
            </a:r>
            <a:endParaRPr lang="en-US" sz="1377" dirty="0"/>
          </a:p>
        </p:txBody>
      </p:sp>
      <p:sp>
        <p:nvSpPr>
          <p:cNvPr id="13" name="Text 10"/>
          <p:cNvSpPr/>
          <p:nvPr/>
        </p:nvSpPr>
        <p:spPr>
          <a:xfrm>
            <a:off x="4786313" y="1259086"/>
            <a:ext cx="3786188" cy="398264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00FF"/>
                </a:solidFill>
              </a:rPr>
              <a:t>2. Deep Dive</a:t>
            </a:r>
            <a:endParaRPr lang="en-US" sz="1602" dirty="0"/>
          </a:p>
        </p:txBody>
      </p:sp>
      <p:sp>
        <p:nvSpPr>
          <p:cNvPr id="14" name="Text 11"/>
          <p:cNvSpPr/>
          <p:nvPr/>
        </p:nvSpPr>
        <p:spPr>
          <a:xfrm>
            <a:off x="4814888" y="1812727"/>
            <a:ext cx="142668" cy="235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 dirty="0"/>
              <a:t>✓</a:t>
            </a:r>
          </a:p>
        </p:txBody>
      </p:sp>
      <p:sp>
        <p:nvSpPr>
          <p:cNvPr id="15" name="Text 12"/>
          <p:cNvSpPr/>
          <p:nvPr/>
        </p:nvSpPr>
        <p:spPr>
          <a:xfrm>
            <a:off x="5100638" y="1835944"/>
            <a:ext cx="3001719" cy="231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77" dirty="0"/>
              <a:t>Univariate plots (Histograms, Box plots)</a:t>
            </a:r>
          </a:p>
        </p:txBody>
      </p:sp>
      <p:sp>
        <p:nvSpPr>
          <p:cNvPr id="16" name="Text 13"/>
          <p:cNvSpPr/>
          <p:nvPr/>
        </p:nvSpPr>
        <p:spPr>
          <a:xfrm>
            <a:off x="4814888" y="2197038"/>
            <a:ext cx="142668" cy="235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 dirty="0"/>
              <a:t>✓</a:t>
            </a:r>
          </a:p>
        </p:txBody>
      </p:sp>
      <p:sp>
        <p:nvSpPr>
          <p:cNvPr id="17" name="Text 14"/>
          <p:cNvSpPr/>
          <p:nvPr/>
        </p:nvSpPr>
        <p:spPr>
          <a:xfrm>
            <a:off x="5100638" y="2220255"/>
            <a:ext cx="2988382" cy="231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77" dirty="0"/>
              <a:t>Target variable analysis (Skew/Balance)</a:t>
            </a:r>
          </a:p>
        </p:txBody>
      </p:sp>
      <p:sp>
        <p:nvSpPr>
          <p:cNvPr id="18" name="Text 15"/>
          <p:cNvSpPr/>
          <p:nvPr/>
        </p:nvSpPr>
        <p:spPr>
          <a:xfrm>
            <a:off x="4814888" y="2581349"/>
            <a:ext cx="142668" cy="235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 dirty="0"/>
              <a:t>✓</a:t>
            </a:r>
          </a:p>
        </p:txBody>
      </p:sp>
      <p:sp>
        <p:nvSpPr>
          <p:cNvPr id="19" name="Text 16"/>
          <p:cNvSpPr/>
          <p:nvPr/>
        </p:nvSpPr>
        <p:spPr>
          <a:xfrm>
            <a:off x="5100638" y="2604567"/>
            <a:ext cx="1781834" cy="231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77" dirty="0"/>
              <a:t>Correlation matrix </a:t>
            </a:r>
            <a:r>
              <a:rPr lang="en-US" sz="1094" dirty="0"/>
              <a:t>.corr()</a:t>
            </a:r>
            <a:endParaRPr lang="en-US" sz="1377" dirty="0"/>
          </a:p>
        </p:txBody>
      </p:sp>
      <p:sp>
        <p:nvSpPr>
          <p:cNvPr id="20" name="Text 17"/>
          <p:cNvSpPr/>
          <p:nvPr/>
        </p:nvSpPr>
        <p:spPr>
          <a:xfrm>
            <a:off x="4814888" y="2965661"/>
            <a:ext cx="142668" cy="235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 dirty="0"/>
              <a:t>✓</a:t>
            </a:r>
          </a:p>
        </p:txBody>
      </p:sp>
      <p:sp>
        <p:nvSpPr>
          <p:cNvPr id="21" name="Text 18"/>
          <p:cNvSpPr/>
          <p:nvPr/>
        </p:nvSpPr>
        <p:spPr>
          <a:xfrm>
            <a:off x="5100638" y="2988878"/>
            <a:ext cx="2814745" cy="231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77" dirty="0"/>
              <a:t>Bivariate plots (Scatter, Box by Class)</a:t>
            </a:r>
          </a:p>
        </p:txBody>
      </p:sp>
      <p:sp>
        <p:nvSpPr>
          <p:cNvPr id="24" name="Text 21"/>
          <p:cNvSpPr/>
          <p:nvPr/>
        </p:nvSpPr>
        <p:spPr>
          <a:xfrm>
            <a:off x="571500" y="4793456"/>
            <a:ext cx="421590" cy="112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/>
              <a:t>Module 04</a:t>
            </a:r>
          </a:p>
        </p:txBody>
      </p:sp>
      <p:sp>
        <p:nvSpPr>
          <p:cNvPr id="25" name="Text 22"/>
          <p:cNvSpPr/>
          <p:nvPr/>
        </p:nvSpPr>
        <p:spPr>
          <a:xfrm>
            <a:off x="6144295" y="4793456"/>
            <a:ext cx="2095125" cy="112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/>
              <a:t>Working with Data &amp; EDA (2026 Edition) • Classic ML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428625"/>
            <a:ext cx="2646302" cy="4671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dirty="0">
                <a:solidFill>
                  <a:schemeClr val="accent1"/>
                </a:solidFill>
              </a:rPr>
              <a:t>This Week's Lab</a:t>
            </a:r>
            <a:endParaRPr lang="en-US" sz="2862" dirty="0">
              <a:solidFill>
                <a:schemeClr val="accent1"/>
              </a:solidFill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0" y="1051918"/>
            <a:ext cx="8001000" cy="1423392"/>
          </a:xfrm>
          <a:prstGeom prst="rect">
            <a:avLst/>
          </a:prstGeom>
          <a:solidFill>
            <a:srgbClr val="00FFFF">
              <a:alpha val="5000"/>
            </a:srgbClr>
          </a:solidFill>
          <a:ln w="18288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785813" y="1266230"/>
            <a:ext cx="1030282" cy="1697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2" dirty="0">
                <a:solidFill>
                  <a:schemeClr val="accent1"/>
                </a:solidFill>
              </a:rPr>
              <a:t>Mission Objective</a:t>
            </a:r>
            <a:endParaRPr lang="en-US" sz="987" dirty="0">
              <a:solidFill>
                <a:schemeClr val="accent1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785813" y="1532335"/>
            <a:ext cx="7572375" cy="606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24" dirty="0"/>
              <a:t>Perform a complete Exploratory Data Analysis on the </a:t>
            </a:r>
            <a:r>
              <a:rPr lang="en-US" sz="1808" b="1" dirty="0">
                <a:solidFill>
                  <a:srgbClr val="FF00FF"/>
                </a:solidFill>
              </a:rPr>
              <a:t>Titanic</a:t>
            </a:r>
            <a:r>
              <a:rPr lang="en-US" sz="1924" dirty="0"/>
              <a:t> dataset to identify survival factors.</a:t>
            </a:r>
          </a:p>
        </p:txBody>
      </p:sp>
      <p:sp>
        <p:nvSpPr>
          <p:cNvPr id="7" name="Text 4"/>
          <p:cNvSpPr/>
          <p:nvPr/>
        </p:nvSpPr>
        <p:spPr>
          <a:xfrm>
            <a:off x="571500" y="2640152"/>
            <a:ext cx="28575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00FF"/>
                </a:solidFill>
              </a:rPr>
              <a:t>01</a:t>
            </a:r>
            <a:endParaRPr lang="en-US" sz="1397" dirty="0"/>
          </a:p>
        </p:txBody>
      </p:sp>
      <p:sp>
        <p:nvSpPr>
          <p:cNvPr id="8" name="Text 5"/>
          <p:cNvSpPr/>
          <p:nvPr/>
        </p:nvSpPr>
        <p:spPr>
          <a:xfrm>
            <a:off x="1000125" y="2640152"/>
            <a:ext cx="4439229" cy="235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 dirty="0"/>
              <a:t>Load data and inspect structure (head, info, describe).</a:t>
            </a:r>
          </a:p>
        </p:txBody>
      </p:sp>
      <p:sp>
        <p:nvSpPr>
          <p:cNvPr id="9" name="Text 6"/>
          <p:cNvSpPr/>
          <p:nvPr/>
        </p:nvSpPr>
        <p:spPr>
          <a:xfrm>
            <a:off x="571500" y="3056276"/>
            <a:ext cx="28575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00FF"/>
                </a:solidFill>
              </a:rPr>
              <a:t>02</a:t>
            </a:r>
            <a:endParaRPr lang="en-US" sz="1397" dirty="0"/>
          </a:p>
        </p:txBody>
      </p:sp>
      <p:sp>
        <p:nvSpPr>
          <p:cNvPr id="10" name="Text 7"/>
          <p:cNvSpPr/>
          <p:nvPr/>
        </p:nvSpPr>
        <p:spPr>
          <a:xfrm>
            <a:off x="1000125" y="3056276"/>
            <a:ext cx="3574376" cy="235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 dirty="0"/>
              <a:t>Visualize distributions (Univariate Analysis).</a:t>
            </a:r>
          </a:p>
        </p:txBody>
      </p:sp>
      <p:sp>
        <p:nvSpPr>
          <p:cNvPr id="11" name="Text 8"/>
          <p:cNvSpPr/>
          <p:nvPr/>
        </p:nvSpPr>
        <p:spPr>
          <a:xfrm>
            <a:off x="571500" y="3472399"/>
            <a:ext cx="28575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00FF"/>
                </a:solidFill>
              </a:rPr>
              <a:t>03</a:t>
            </a:r>
            <a:endParaRPr lang="en-US" sz="1397" dirty="0"/>
          </a:p>
        </p:txBody>
      </p:sp>
      <p:sp>
        <p:nvSpPr>
          <p:cNvPr id="12" name="Text 9"/>
          <p:cNvSpPr/>
          <p:nvPr/>
        </p:nvSpPr>
        <p:spPr>
          <a:xfrm>
            <a:off x="1000125" y="3472399"/>
            <a:ext cx="5141920" cy="235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 dirty="0"/>
              <a:t>Explore relationships between features and survival (Bivariate).</a:t>
            </a:r>
          </a:p>
        </p:txBody>
      </p:sp>
      <p:sp>
        <p:nvSpPr>
          <p:cNvPr id="13" name="Text 10"/>
          <p:cNvSpPr/>
          <p:nvPr/>
        </p:nvSpPr>
        <p:spPr>
          <a:xfrm>
            <a:off x="571500" y="3888522"/>
            <a:ext cx="28575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00FF"/>
                </a:solidFill>
              </a:rPr>
              <a:t>04</a:t>
            </a:r>
            <a:endParaRPr lang="en-US" sz="1397" dirty="0"/>
          </a:p>
        </p:txBody>
      </p:sp>
      <p:sp>
        <p:nvSpPr>
          <p:cNvPr id="14" name="Text 11"/>
          <p:cNvSpPr/>
          <p:nvPr/>
        </p:nvSpPr>
        <p:spPr>
          <a:xfrm>
            <a:off x="1000125" y="3888522"/>
            <a:ext cx="4584973" cy="235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 dirty="0"/>
              <a:t>Identify missing values and propose handling strategies.</a:t>
            </a:r>
          </a:p>
        </p:txBody>
      </p:sp>
      <p:sp>
        <p:nvSpPr>
          <p:cNvPr id="15" name="Text 12"/>
          <p:cNvSpPr/>
          <p:nvPr/>
        </p:nvSpPr>
        <p:spPr>
          <a:xfrm>
            <a:off x="571500" y="4304646"/>
            <a:ext cx="28575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00FF"/>
                </a:solidFill>
              </a:rPr>
              <a:t>05</a:t>
            </a:r>
            <a:endParaRPr lang="en-US" sz="1397" dirty="0"/>
          </a:p>
        </p:txBody>
      </p:sp>
      <p:sp>
        <p:nvSpPr>
          <p:cNvPr id="16" name="Text 13"/>
          <p:cNvSpPr/>
          <p:nvPr/>
        </p:nvSpPr>
        <p:spPr>
          <a:xfrm>
            <a:off x="1000125" y="4304646"/>
            <a:ext cx="984693" cy="235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 dirty="0"/>
              <a:t>Deliverable:</a:t>
            </a:r>
          </a:p>
        </p:txBody>
      </p:sp>
      <p:sp>
        <p:nvSpPr>
          <p:cNvPr id="17" name="Text 14"/>
          <p:cNvSpPr/>
          <p:nvPr/>
        </p:nvSpPr>
        <p:spPr>
          <a:xfrm>
            <a:off x="2108467" y="4304646"/>
            <a:ext cx="4208716" cy="235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 dirty="0"/>
              <a:t>A Jupyter Notebook with code + markdown insights.</a:t>
            </a:r>
          </a:p>
        </p:txBody>
      </p:sp>
      <p:sp>
        <p:nvSpPr>
          <p:cNvPr id="18" name="Shape 15"/>
          <p:cNvSpPr/>
          <p:nvPr/>
        </p:nvSpPr>
        <p:spPr>
          <a:xfrm>
            <a:off x="571500" y="4749621"/>
            <a:ext cx="8001000" cy="25003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71500" y="4863921"/>
            <a:ext cx="421590" cy="112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/>
              <a:t>Module 04</a:t>
            </a:r>
          </a:p>
        </p:txBody>
      </p:sp>
      <p:sp>
        <p:nvSpPr>
          <p:cNvPr id="21" name="Text 18"/>
          <p:cNvSpPr/>
          <p:nvPr/>
        </p:nvSpPr>
        <p:spPr>
          <a:xfrm>
            <a:off x="6144295" y="4863921"/>
            <a:ext cx="2095125" cy="112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/>
              <a:t>Working with Data &amp; EDA (2026 Edition) • Classic ML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428625"/>
            <a:ext cx="2473754" cy="4671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dirty="0">
                <a:solidFill>
                  <a:schemeClr val="accent1"/>
                </a:solidFill>
              </a:rPr>
              <a:t>Key Takeaways</a:t>
            </a:r>
            <a:endParaRPr lang="en-US" sz="2862" dirty="0">
              <a:solidFill>
                <a:schemeClr val="accent1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1101639"/>
            <a:ext cx="80563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95" dirty="0">
                <a:solidFill>
                  <a:srgbClr val="FF00FF"/>
                </a:solidFill>
              </a:rPr>
              <a:t>•</a:t>
            </a:r>
            <a:endParaRPr lang="en-US" sz="1595" dirty="0"/>
          </a:p>
        </p:txBody>
      </p:sp>
      <p:sp>
        <p:nvSpPr>
          <p:cNvPr id="5" name="Text 2"/>
          <p:cNvSpPr/>
          <p:nvPr/>
        </p:nvSpPr>
        <p:spPr>
          <a:xfrm>
            <a:off x="857250" y="1105211"/>
            <a:ext cx="1607171" cy="2875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95" dirty="0"/>
              <a:t>EDA is Mandatory:</a:t>
            </a:r>
          </a:p>
        </p:txBody>
      </p:sp>
      <p:sp>
        <p:nvSpPr>
          <p:cNvPr id="6" name="Text 3"/>
          <p:cNvSpPr/>
          <p:nvPr/>
        </p:nvSpPr>
        <p:spPr>
          <a:xfrm>
            <a:off x="857250" y="1395834"/>
            <a:ext cx="3650847" cy="595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95" dirty="0"/>
              <a:t>You cannot model what you do not understand. No shortcuts.</a:t>
            </a:r>
          </a:p>
        </p:txBody>
      </p:sp>
      <p:sp>
        <p:nvSpPr>
          <p:cNvPr id="7" name="Text 4"/>
          <p:cNvSpPr/>
          <p:nvPr/>
        </p:nvSpPr>
        <p:spPr>
          <a:xfrm>
            <a:off x="571500" y="2011935"/>
            <a:ext cx="80563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95" dirty="0">
                <a:solidFill>
                  <a:srgbClr val="FF00FF"/>
                </a:solidFill>
              </a:rPr>
              <a:t>•</a:t>
            </a:r>
            <a:endParaRPr lang="en-US" sz="1595" dirty="0"/>
          </a:p>
        </p:txBody>
      </p:sp>
      <p:sp>
        <p:nvSpPr>
          <p:cNvPr id="8" name="Text 5"/>
          <p:cNvSpPr/>
          <p:nvPr/>
        </p:nvSpPr>
        <p:spPr>
          <a:xfrm>
            <a:off x="857250" y="2015507"/>
            <a:ext cx="1577932" cy="2875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95" dirty="0"/>
              <a:t>Data Quality First:</a:t>
            </a:r>
          </a:p>
        </p:txBody>
      </p:sp>
      <p:sp>
        <p:nvSpPr>
          <p:cNvPr id="9" name="Text 6"/>
          <p:cNvSpPr/>
          <p:nvPr/>
        </p:nvSpPr>
        <p:spPr>
          <a:xfrm>
            <a:off x="857250" y="2263847"/>
            <a:ext cx="3807061" cy="591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95" dirty="0"/>
              <a:t>Fix missing values, outliers, and duplicates before training.</a:t>
            </a:r>
          </a:p>
        </p:txBody>
      </p:sp>
      <p:sp>
        <p:nvSpPr>
          <p:cNvPr id="10" name="Text 7"/>
          <p:cNvSpPr/>
          <p:nvPr/>
        </p:nvSpPr>
        <p:spPr>
          <a:xfrm>
            <a:off x="571500" y="2917000"/>
            <a:ext cx="80563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95" dirty="0">
                <a:solidFill>
                  <a:srgbClr val="FF00FF"/>
                </a:solidFill>
              </a:rPr>
              <a:t>•</a:t>
            </a:r>
            <a:endParaRPr lang="en-US" sz="1595" dirty="0"/>
          </a:p>
        </p:txBody>
      </p:sp>
      <p:sp>
        <p:nvSpPr>
          <p:cNvPr id="11" name="Text 8"/>
          <p:cNvSpPr/>
          <p:nvPr/>
        </p:nvSpPr>
        <p:spPr>
          <a:xfrm>
            <a:off x="857250" y="2920572"/>
            <a:ext cx="1800301" cy="2875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95" dirty="0"/>
              <a:t>Visualize Everything:</a:t>
            </a:r>
          </a:p>
        </p:txBody>
      </p:sp>
      <p:sp>
        <p:nvSpPr>
          <p:cNvPr id="12" name="Text 9"/>
          <p:cNvSpPr/>
          <p:nvPr/>
        </p:nvSpPr>
        <p:spPr>
          <a:xfrm>
            <a:off x="857250" y="3180971"/>
            <a:ext cx="3936736" cy="591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95" dirty="0"/>
              <a:t>Summary statistics can lie. Plots reveal the truth.</a:t>
            </a:r>
          </a:p>
        </p:txBody>
      </p:sp>
      <p:sp>
        <p:nvSpPr>
          <p:cNvPr id="13" name="Text 10"/>
          <p:cNvSpPr/>
          <p:nvPr/>
        </p:nvSpPr>
        <p:spPr>
          <a:xfrm>
            <a:off x="571500" y="3844839"/>
            <a:ext cx="80563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95" dirty="0">
                <a:solidFill>
                  <a:srgbClr val="FF00FF"/>
                </a:solidFill>
              </a:rPr>
              <a:t>•</a:t>
            </a:r>
            <a:endParaRPr lang="en-US" sz="1595" dirty="0"/>
          </a:p>
        </p:txBody>
      </p:sp>
      <p:sp>
        <p:nvSpPr>
          <p:cNvPr id="14" name="Text 11"/>
          <p:cNvSpPr/>
          <p:nvPr/>
        </p:nvSpPr>
        <p:spPr>
          <a:xfrm>
            <a:off x="857250" y="3848411"/>
            <a:ext cx="1738489" cy="2875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95" dirty="0"/>
              <a:t>Actionable Insights:</a:t>
            </a:r>
          </a:p>
        </p:txBody>
      </p:sp>
      <p:sp>
        <p:nvSpPr>
          <p:cNvPr id="15" name="Text 12"/>
          <p:cNvSpPr/>
          <p:nvPr/>
        </p:nvSpPr>
        <p:spPr>
          <a:xfrm>
            <a:off x="857250" y="4109721"/>
            <a:ext cx="3960093" cy="287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95" dirty="0"/>
              <a:t>EDA is the blueprint for Feature Engineering.</a:t>
            </a:r>
          </a:p>
        </p:txBody>
      </p:sp>
      <p:sp>
        <p:nvSpPr>
          <p:cNvPr id="20" name="Text 16"/>
          <p:cNvSpPr/>
          <p:nvPr/>
        </p:nvSpPr>
        <p:spPr>
          <a:xfrm>
            <a:off x="571500" y="4846025"/>
            <a:ext cx="421590" cy="112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/>
              <a:t>Module 04</a:t>
            </a:r>
          </a:p>
        </p:txBody>
      </p:sp>
      <p:sp>
        <p:nvSpPr>
          <p:cNvPr id="21" name="Text 17"/>
          <p:cNvSpPr/>
          <p:nvPr/>
        </p:nvSpPr>
        <p:spPr>
          <a:xfrm>
            <a:off x="6144295" y="4846025"/>
            <a:ext cx="2095125" cy="112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/>
              <a:t>Working with Data &amp; EDA (2026 Edition) • Classic 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dule 03 - IML Key concept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 03 - IML Key concepts</Template>
  <TotalTime>231</TotalTime>
  <Words>2823</Words>
  <Application>Microsoft Office PowerPoint</Application>
  <PresentationFormat>On-screen Show (16:9)</PresentationFormat>
  <Paragraphs>604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Aptos</vt:lpstr>
      <vt:lpstr>Aptos Display</vt:lpstr>
      <vt:lpstr>Arial</vt:lpstr>
      <vt:lpstr>Module 03 - IML Key concepts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s.nazifitakantappeh</cp:lastModifiedBy>
  <cp:revision>27</cp:revision>
  <dcterms:created xsi:type="dcterms:W3CDTF">2026-01-06T07:00:10Z</dcterms:created>
  <dcterms:modified xsi:type="dcterms:W3CDTF">2026-02-03T23:39:10Z</dcterms:modified>
</cp:coreProperties>
</file>